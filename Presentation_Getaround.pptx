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[~30s — INTRO]</a:t>
            </a:r>
          </a:p>
          <a:p/>
          <a:p>
            <a:r>
              <a:t>Bonjour, je vous présente le projet Getaround du Bloc 5 — c'est le projet de déploiement, le plus complet en termes d'outillage.</a:t>
            </a:r>
          </a:p>
          <a:p/>
          <a:p>
            <a:r>
              <a:t>Getaround c'est l'Airbnb des voitures, 5 millions d'utilisateurs, 20 000 véhicules. Pain point : les conducteurs rendent souvent la voiture en retard, ce qui crée du friction pour le client suivant qui doit attendre voire annuler.</a:t>
            </a:r>
          </a:p>
          <a:p/>
          <a:p>
            <a:r>
              <a:t>Le PM veut décider d'un délai minimum entre deux locations, mais ça réduit le revenu owner. Il a besoin d'un dashboard pour explorer le trade-off threshold × scope.</a:t>
            </a:r>
          </a:p>
          <a:p/>
          <a:p>
            <a:r>
              <a:t>En parallèle, l'équipe data science a un modèle de pricing optimization à exposer via une API.</a:t>
            </a:r>
          </a:p>
          <a:p/>
          <a:p>
            <a:r>
              <a:t>Mon livrable : dashboard + API + documentation, le tout déployé en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 min — ARCHITECTURE]</a:t>
            </a:r>
          </a:p>
          <a:p/>
          <a:p>
            <a:r>
              <a:t>L'architecture cloud — c'est le cœur du Bloc 5.</a:t>
            </a:r>
          </a:p>
          <a:p/>
          <a:p>
            <a:r>
              <a:t>Je traite 2 datasets : Delay Analysis pour le dashboard, Pricing Optimization pour l'API.</a:t>
            </a:r>
          </a:p>
          <a:p/>
          <a:p>
            <a:r>
              <a:t>Pour le ML : j'utilise MLflow pour tracker les expériences et stocker les modèles. C'est le pattern standard du Bloc 5, ça permet de reproduire et comparer.</a:t>
            </a:r>
          </a:p>
          <a:p/>
          <a:p>
            <a:r>
              <a:t>Pour la restitution : 2 services indépendants. Streamlit pour le dashboard interactif où le PM explore le trade-off threshold × scope. FastAPI pour l'API /predict avec validation Pydantic et documentation auto-générée à /docs.</a:t>
            </a:r>
          </a:p>
          <a:p/>
          <a:p>
            <a:r>
              <a:t>Les deux services sont containerisés Docker en multi-stage build pour avoir des images sous 500 MB. Déployés sur HuggingFace Spaces qui est gratuit pour un Docker space.</a:t>
            </a:r>
          </a:p>
          <a:p/>
          <a:p>
            <a:r>
              <a:t>J'ai 2 URLs publiques — une pour le dashboard, une pour l'API. Le code source est sur GitHub. Pour reproduire en local : docker-compose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 min — DASHBOARD]</a:t>
            </a:r>
          </a:p>
          <a:p/>
          <a:p>
            <a:r>
              <a:t>Le dashboard Streamlit répond aux 4 questions du PM.</a:t>
            </a:r>
          </a:p>
          <a:p/>
          <a:p>
            <a:r>
              <a:t>Volumétrie : 21 310 rentals dans le delay analysis dataset. Environ 17% des locations ont un checkout en retard. Et environ 9,6% des cas créent du friction pour le client suivant — c'est le chiffre clé qu'on cherche à réduire.</a:t>
            </a:r>
          </a:p>
          <a:p/>
          <a:p>
            <a:r>
              <a:t>Le dashboard a 2 sliders interactifs : threshold de 0 à 720 minutes par pas de 30, et un toggle scope all cars vs Connect cars only. Les 3 outputs temps réel : pourcentage de revenus impactés, pourcentage de rentals filtrés, pourcentage de cas problématiques résolus.</a:t>
            </a:r>
          </a:p>
          <a:p/>
          <a:p>
            <a:r>
              <a:t>Ma recommandation par défaut, basée sur l'analyse : seuil entre 60 et 90 minutes, mais limité aux Connect cars seulement. Ça résout environ 65% des cas problématiques tout en impactant moins de 5% du revenu owner. C'est le sweet spot du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 min — API]</a:t>
            </a:r>
          </a:p>
          <a:p/>
          <a:p>
            <a:r>
              <a:t>L'API FastAPI — partie pricing optimization.</a:t>
            </a:r>
          </a:p>
          <a:p/>
          <a:p>
            <a:r>
              <a:t>3 endpoints livrés. POST /predict accepte un JSON avec une liste de listes de 11 features et retourne une liste de prix prédits. GET /docs sert la documentation OpenAPI auto-générée par FastAPI — c'est exactement ce qu'a demandé l'énoncé. GET / est le health check avec une mini page HTML d'accueil.</a:t>
            </a:r>
          </a:p>
          <a:p/>
          <a:p>
            <a:r>
              <a:t>Le modèle servi : Random Forest Regressor entraîné sur les données pricing. Tracké sur MLflow avec versioning, et le modèle de production est sélectionné depuis le registry. RMSE de test autour de 20 € par jour — sur des locations qui vont de 50 à 200 € par jour, c'est correct.</a:t>
            </a:r>
          </a:p>
          <a:p/>
          <a:p>
            <a:r>
              <a:t>Latence d'inférence : sous les 100 ms par requête, validée par curl en condition réelle. Suffisant pour un appel synchrone depuis le frontend.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[~45s — DÉMO]</a:t>
            </a:r>
          </a:p>
          <a:p/>
          <a:p>
            <a:r>
              <a:t>Démo live que je peux faire devant le jury.</a:t>
            </a:r>
          </a:p>
          <a:p/>
          <a:p>
            <a:r>
              <a:t>1. J'ouvre l'URL du dashboard Streamlit déployé sur HF Spaces, je joue avec les 2 sliders, je montre comment le PM peut explorer le trade-off en temps réel.</a:t>
            </a:r>
          </a:p>
          <a:p/>
          <a:p>
            <a:r>
              <a:t>2. J'ouvre l'URL de l'API à /docs : c'est le Swagger UI auto-généré par FastAPI. Le jury peut tester /predict directement depuis l'interface en cliquant Try it out.</a:t>
            </a:r>
          </a:p>
          <a:p/>
          <a:p>
            <a:r>
              <a:t>3. Je fais un curl POST en ligne de commande pour montrer que ça marche depuis n'importe où, c'est exactement la commande de l'énoncé.</a:t>
            </a:r>
          </a:p>
          <a:p/>
          <a:p>
            <a:r>
              <a:t>4. Je montre le repo GitHub avec le README, les Dockerfiles, le docker-compose.yml.</a:t>
            </a:r>
          </a:p>
          <a:p/>
          <a:p>
            <a:r>
              <a:t>5. En bonus, je peux lancer MLflow UI en local pour montrer les runs trackés et le model registry.</a:t>
            </a:r>
          </a:p>
          <a:p/>
          <a:p>
            <a:r>
              <a:t>Reproductibilité totale : un git clone et un docker-compose up suffisent.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[~30s — CONCLUSION]</a:t>
            </a:r>
          </a:p>
          <a:p/>
          <a:p>
            <a:r>
              <a:t>Pour conclure le Bloc 5 Getaround.</a:t>
            </a:r>
          </a:p>
          <a:p/>
          <a:p>
            <a:r>
              <a:t>Acquis : pipeline MLOps complet — MLflow tracking et registry, Streamlit, FastAPI, Docker multi-stage, déploiement HF Spaces, tests pytest, documentation /docs.</a:t>
            </a:r>
          </a:p>
          <a:p/>
          <a:p>
            <a:r>
              <a:t>Pour la prod chez Getaround : ajouter une CI/CD GitHub Actions pour le build et deploy automatique, migrer sur AWS ECS ou GCP Cloud Run pour scaler, monitoring Prometheus/Grafana, authentification sur l'API, cache Redis pour les prédictions fréquentes, pipeline de re-training schedulé via Airflow, et A/B test du threshold en condition réelle pour valider le sweet spot 60-90 minutes.</a:t>
            </a:r>
          </a:p>
          <a:p/>
          <a:p>
            <a:r>
              <a:t>C'était mon dernier projet jury Bloc 5. Merci pour votre attention, je suis prêt pour vos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ymericlahonde-dotcom/cdsd-b5-getaround" TargetMode="External"/><Relationship Id="rId3" Type="http://schemas.openxmlformats.org/officeDocument/2006/relationships/hyperlink" Target="https://huggingface.co/spaces/Alh92500/getaround-dashboard" TargetMode="External"/><Relationship Id="rId4" Type="http://schemas.openxmlformats.org/officeDocument/2006/relationships/hyperlink" Target="https://alh92500-getaround-mlflow.hf.spac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365760" cy="32004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A1B9A"/>
                </a:solidFill>
              </a:defRPr>
            </a:pPr>
            <a:r>
              <a:t>Getaround — Delay analysis &amp; Pricing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5A5773"/>
                </a:solidFill>
              </a:defRPr>
            </a:pPr>
            <a:r>
              <a:t>Bloc 5 — Deployment (Streamlit + MLflow + FastAPI + Docker + HF Spaces)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9848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2000" b="1">
                <a:solidFill>
                  <a:srgbClr val="00BFA5"/>
                </a:solidFill>
              </a:defRPr>
            </a:pPr>
            <a:r>
              <a:t>Ce qu'attend Getaround</a:t>
            </a:r>
          </a:p>
          <a:p>
            <a:pPr>
              <a:spcBef>
                <a:spcPts val="400"/>
              </a:spcBef>
              <a:defRPr sz="1500">
                <a:solidFill>
                  <a:srgbClr val="6A1B9A"/>
                </a:solidFill>
              </a:defRPr>
            </a:pPr>
            <a:r>
              <a:t>•  Dashboard Streamlit pour aider le PM à choisir threshold + scope</a:t>
            </a:r>
          </a:p>
          <a:p>
            <a:pPr>
              <a:spcBef>
                <a:spcPts val="400"/>
              </a:spcBef>
              <a:defRPr sz="1500">
                <a:solidFill>
                  <a:srgbClr val="6A1B9A"/>
                </a:solidFill>
              </a:defRPr>
            </a:pPr>
            <a:r>
              <a:t>•  API FastAPI /predict pour le pricing optimization</a:t>
            </a:r>
          </a:p>
          <a:p>
            <a:pPr>
              <a:spcBef>
                <a:spcPts val="400"/>
              </a:spcBef>
              <a:defRPr sz="1500">
                <a:solidFill>
                  <a:srgbClr val="6A1B9A"/>
                </a:solidFill>
              </a:defRPr>
            </a:pPr>
            <a:r>
              <a:t>•  Documentation /docs accessible publiquement</a:t>
            </a:r>
          </a:p>
          <a:p>
            <a:pPr>
              <a:spcBef>
                <a:spcPts val="400"/>
              </a:spcBef>
              <a:defRPr sz="1500">
                <a:solidFill>
                  <a:srgbClr val="6A1B9A"/>
                </a:solidFill>
              </a:defRPr>
            </a:pPr>
            <a:r>
              <a:t>•  Hébergement en ligne (HuggingFace Spaces)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773"/>
                </a:solidFill>
              </a:defRPr>
            </a:pPr>
            <a:r>
              <a:t>Aymeric Lahonde — CDSD Jedha 2026 — RNCP35288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773"/>
                </a:solidFill>
              </a:defRPr>
            </a:pPr>
            <a:r>
              <a:t>Aymeric Lahonde — CDSD Jedha 2026 — RNCP35288  ·  Bloc 5 Getaround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BFA5"/>
                </a:solidFill>
              </a:defRPr>
            </a:pPr>
            <a: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A1B9A"/>
                </a:solidFill>
              </a:defRPr>
            </a:pPr>
            <a:r>
              <a:t>Architecture cloud</a:t>
            </a:r>
          </a:p>
          <a:p>
            <a:pPr>
              <a:defRPr sz="1300" i="1">
                <a:solidFill>
                  <a:srgbClr val="00BFA5"/>
                </a:solidFill>
              </a:defRPr>
            </a:pPr>
            <a:r>
              <a:t>2 services Docker → HF Spaces → documentés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371600"/>
            <a:ext cx="1783080" cy="137160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Données</a:t>
            </a:r>
            <a:br/>
            <a:r>
              <a:t>Delay + Pricing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Excel + CSV</a:t>
            </a:r>
            <a:br/>
            <a:r>
              <a:t>fournis Jedha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23120" y="1874520"/>
            <a:ext cx="124592" cy="365760"/>
          </a:xfrm>
          <a:prstGeom prst="rightArrow">
            <a:avLst/>
          </a:prstGeom>
          <a:solidFill>
            <a:srgbClr val="5A5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67712" y="1371600"/>
            <a:ext cx="1783080" cy="137160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MLflow</a:t>
            </a:r>
            <a:br/>
            <a:r>
              <a:t>Tracking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exp + models</a:t>
            </a:r>
            <a:br/>
            <a:r>
              <a:t>local store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70792" y="1874520"/>
            <a:ext cx="124592" cy="365760"/>
          </a:xfrm>
          <a:prstGeom prst="rightArrow">
            <a:avLst/>
          </a:prstGeom>
          <a:solidFill>
            <a:srgbClr val="5A5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15384" y="1371600"/>
            <a:ext cx="1783080" cy="137160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Streamlit</a:t>
            </a:r>
            <a:br/>
            <a:r>
              <a:t>Dashboard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exploration</a:t>
            </a:r>
            <a:br/>
            <a:r>
              <a:t>tradeoff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18464" y="1874520"/>
            <a:ext cx="124592" cy="365760"/>
          </a:xfrm>
          <a:prstGeom prst="rightArrow">
            <a:avLst/>
          </a:prstGeom>
          <a:solidFill>
            <a:srgbClr val="5A5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63056" y="1371600"/>
            <a:ext cx="1783080" cy="1371600"/>
          </a:xfrm>
          <a:prstGeom prst="round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FastAPI</a:t>
            </a:r>
            <a:br/>
            <a:r>
              <a:t>/predict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JSON in/out</a:t>
            </a:r>
            <a:br/>
            <a:r>
              <a:t>+ /docs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66136" y="1874520"/>
            <a:ext cx="124592" cy="365760"/>
          </a:xfrm>
          <a:prstGeom prst="rightArrow">
            <a:avLst/>
          </a:prstGeom>
          <a:solidFill>
            <a:srgbClr val="5A5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10728" y="1371600"/>
            <a:ext cx="1783080" cy="1371600"/>
          </a:xfrm>
          <a:prstGeom prst="roundRect">
            <a:avLst/>
          </a:prstGeom>
          <a:solidFill>
            <a:srgbClr val="311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Docker</a:t>
            </a:r>
            <a:br/>
            <a:r>
              <a:t>2 images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deploy-ready</a:t>
            </a:r>
            <a:br/>
            <a:r>
              <a:t>light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913808" y="1874520"/>
            <a:ext cx="124592" cy="365760"/>
          </a:xfrm>
          <a:prstGeom prst="rightArrow">
            <a:avLst/>
          </a:prstGeom>
          <a:solidFill>
            <a:srgbClr val="5A5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0" y="1371600"/>
            <a:ext cx="1783080" cy="137160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HF Spaces</a:t>
            </a:r>
            <a:br/>
            <a:r>
              <a:t>online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URL publique</a:t>
            </a:r>
            <a:br/>
            <a:r>
              <a:t>gratuite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1089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A1B9A"/>
                </a:solidFill>
              </a:defRPr>
            </a:pPr>
            <a:r>
              <a:t>Stack technique</a:t>
            </a:r>
          </a:p>
          <a:p>
            <a:pPr>
              <a:spcAft>
                <a:spcPts val="400"/>
              </a:spcAft>
              <a:defRPr sz="1500">
                <a:solidFill>
                  <a:srgbClr val="6A1B9A"/>
                </a:solidFill>
              </a:defRPr>
            </a:pPr>
            <a:r>
              <a:t>MLflow  →  tracking + model registry</a:t>
            </a:r>
          </a:p>
          <a:p>
            <a:pPr>
              <a:spcAft>
                <a:spcPts val="400"/>
              </a:spcAft>
              <a:defRPr sz="1500">
                <a:solidFill>
                  <a:srgbClr val="6A1B9A"/>
                </a:solidFill>
              </a:defRPr>
            </a:pPr>
            <a:r>
              <a:t>Streamlit  →  dashboard interactif</a:t>
            </a:r>
          </a:p>
          <a:p>
            <a:pPr>
              <a:spcAft>
                <a:spcPts val="400"/>
              </a:spcAft>
              <a:defRPr sz="1500">
                <a:solidFill>
                  <a:srgbClr val="6A1B9A"/>
                </a:solidFill>
              </a:defRPr>
            </a:pPr>
            <a:r>
              <a:t>FastAPI + uvicorn  →  API REST production</a:t>
            </a:r>
          </a:p>
          <a:p>
            <a:pPr>
              <a:spcAft>
                <a:spcPts val="400"/>
              </a:spcAft>
              <a:defRPr sz="1500">
                <a:solidFill>
                  <a:srgbClr val="6A1B9A"/>
                </a:solidFill>
              </a:defRPr>
            </a:pPr>
            <a:r>
              <a:t>Pydantic  →  validation input/output</a:t>
            </a:r>
          </a:p>
          <a:p>
            <a:pPr>
              <a:spcAft>
                <a:spcPts val="400"/>
              </a:spcAft>
              <a:defRPr sz="1500">
                <a:solidFill>
                  <a:srgbClr val="6A1B9A"/>
                </a:solidFill>
              </a:defRPr>
            </a:pPr>
            <a:r>
              <a:t>Docker multi-stage  →  images &lt;500 MB</a:t>
            </a:r>
          </a:p>
          <a:p>
            <a:pPr>
              <a:spcAft>
                <a:spcPts val="400"/>
              </a:spcAft>
              <a:defRPr sz="1500">
                <a:solidFill>
                  <a:srgbClr val="6A1B9A"/>
                </a:solidFill>
              </a:defRPr>
            </a:pPr>
            <a:r>
              <a:t>HuggingFace Spaces  →  hébergement Docker gratuit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089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A1B9A"/>
                </a:solidFill>
              </a:defRPr>
            </a:pPr>
            <a:r>
              <a:t>2 services indépendants déployés</a:t>
            </a:r>
          </a:p>
          <a:p>
            <a:pPr>
              <a:spcAft>
                <a:spcPts val="400"/>
              </a:spcAft>
              <a:defRPr sz="1500">
                <a:solidFill>
                  <a:srgbClr val="6A1B9A"/>
                </a:solidFill>
              </a:defRPr>
            </a:pPr>
            <a:r>
              <a:t>Service 1  :  https://hf.co/spaces/Alh92500/getaround-dashboard</a:t>
            </a:r>
          </a:p>
          <a:p>
            <a:pPr>
              <a:spcAft>
                <a:spcPts val="400"/>
              </a:spcAft>
              <a:defRPr sz="1500">
                <a:solidFill>
                  <a:srgbClr val="6A1B9A"/>
                </a:solidFill>
              </a:defRPr>
            </a:pPr>
            <a:r>
              <a:t>    → exploration delay analysis (Streamlit)</a:t>
            </a:r>
          </a:p>
          <a:p>
            <a:pPr>
              <a:spcAft>
                <a:spcPts val="400"/>
              </a:spcAft>
              <a:defRPr sz="1500">
                <a:solidFill>
                  <a:srgbClr val="6A1B9A"/>
                </a:solidFill>
              </a:defRPr>
            </a:pPr>
            <a:r>
              <a:t>Service 2  :  https://hf.co/spaces/Alh92500/getaround-api</a:t>
            </a:r>
          </a:p>
          <a:p>
            <a:pPr>
              <a:spcAft>
                <a:spcPts val="400"/>
              </a:spcAft>
              <a:defRPr sz="1500">
                <a:solidFill>
                  <a:srgbClr val="6A1B9A"/>
                </a:solidFill>
              </a:defRPr>
            </a:pPr>
            <a:r>
              <a:t>    → pricing /predict + /docs (FastAPI)</a:t>
            </a:r>
          </a:p>
          <a:p>
            <a:pPr>
              <a:spcAft>
                <a:spcPts val="400"/>
              </a:spcAft>
              <a:defRPr sz="1500">
                <a:solidFill>
                  <a:srgbClr val="6A1B9A"/>
                </a:solidFill>
              </a:defRPr>
            </a:pPr>
            <a:r>
              <a:t>Code source GitHub  :  cdsd-b5-getaround</a:t>
            </a:r>
          </a:p>
          <a:p>
            <a:pPr>
              <a:spcAft>
                <a:spcPts val="400"/>
              </a:spcAft>
              <a:defRPr sz="1500">
                <a:solidFill>
                  <a:srgbClr val="6A1B9A"/>
                </a:solidFill>
              </a:defRPr>
            </a:pPr>
            <a:r>
              <a:t>Reproductibilité : docker-compose 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773"/>
                </a:solidFill>
              </a:defRPr>
            </a:pPr>
            <a:r>
              <a:t>Aymeric Lahonde — CDSD Jedha 2026 — RNCP35288  ·  Bloc 5 Getaround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BFA5"/>
                </a:solidFill>
              </a:defRPr>
            </a:pPr>
            <a: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A1B9A"/>
                </a:solidFill>
              </a:defRPr>
            </a:pPr>
            <a:r>
              <a:t>Dashboard — analyse du trade-off</a:t>
            </a:r>
          </a:p>
          <a:p>
            <a:pPr>
              <a:defRPr sz="1300" i="1">
                <a:solidFill>
                  <a:srgbClr val="00BFA5"/>
                </a:solidFill>
              </a:defRPr>
            </a:pPr>
            <a:r>
              <a:t>Réponses aux 4 questions du PM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6576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4000" b="1">
                <a:solidFill>
                  <a:srgbClr val="00BFA5"/>
                </a:solidFill>
              </a:defRPr>
            </a:pPr>
            <a:r>
              <a:t>21 310</a:t>
            </a:r>
          </a:p>
          <a:p>
            <a:pPr algn="ctr">
              <a:defRPr sz="1500" b="1">
                <a:solidFill>
                  <a:srgbClr val="6A1B9A"/>
                </a:solidFill>
              </a:defRPr>
            </a:pPr>
            <a:r>
              <a:t>rentals analysés</a:t>
            </a:r>
          </a:p>
          <a:p>
            <a:pPr algn="ctr">
              <a:spcBef>
                <a:spcPts val="800"/>
              </a:spcBef>
              <a:defRPr sz="1100">
                <a:solidFill>
                  <a:srgbClr val="5A5773"/>
                </a:solidFill>
              </a:defRPr>
            </a:pPr>
            <a:r>
              <a:t>delay analysis</a:t>
            </a:r>
            <a:br/>
            <a:r>
              <a:t>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6576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4000" b="1">
                <a:solidFill>
                  <a:srgbClr val="00BFA5"/>
                </a:solidFill>
              </a:defRPr>
            </a:pPr>
            <a:r>
              <a:t>17%</a:t>
            </a:r>
          </a:p>
          <a:p>
            <a:pPr algn="ctr">
              <a:defRPr sz="1500" b="1">
                <a:solidFill>
                  <a:srgbClr val="6A1B9A"/>
                </a:solidFill>
              </a:defRPr>
            </a:pPr>
            <a:r>
              <a:t>rentals en retard</a:t>
            </a:r>
          </a:p>
          <a:p>
            <a:pPr algn="ctr">
              <a:spcBef>
                <a:spcPts val="800"/>
              </a:spcBef>
              <a:defRPr sz="1100">
                <a:solidFill>
                  <a:srgbClr val="5A5773"/>
                </a:solidFill>
              </a:defRPr>
            </a:pPr>
            <a:r>
              <a:t>checkout &gt; heure</a:t>
            </a:r>
            <a:br/>
            <a:r>
              <a:t>théorique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371600"/>
            <a:ext cx="36576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4000" b="1">
                <a:solidFill>
                  <a:srgbClr val="00BFA5"/>
                </a:solidFill>
              </a:defRPr>
            </a:pPr>
            <a:r>
              <a:t>9.6%</a:t>
            </a:r>
          </a:p>
          <a:p>
            <a:pPr algn="ctr">
              <a:defRPr sz="1500" b="1">
                <a:solidFill>
                  <a:srgbClr val="6A1B9A"/>
                </a:solidFill>
              </a:defRPr>
            </a:pPr>
            <a:r>
              <a:t>next-driver impacted</a:t>
            </a:r>
          </a:p>
          <a:p>
            <a:pPr algn="ctr">
              <a:spcBef>
                <a:spcPts val="800"/>
              </a:spcBef>
              <a:defRPr sz="1100">
                <a:solidFill>
                  <a:srgbClr val="5A5773"/>
                </a:solidFill>
              </a:defRPr>
            </a:pPr>
            <a:r>
              <a:t>rentals consécutifs</a:t>
            </a:r>
            <a:br/>
            <a:r>
              <a:t>problématiques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6A1B9A"/>
                </a:solidFill>
              </a:defRPr>
            </a:pPr>
            <a:r>
              <a:t>Sliders interactifs du dashboard Streamlit</a:t>
            </a:r>
          </a:p>
          <a:p>
            <a:pPr>
              <a:spcAft>
                <a:spcPts val="400"/>
              </a:spcAft>
              <a:defRPr sz="1400">
                <a:solidFill>
                  <a:srgbClr val="6A1B9A"/>
                </a:solidFill>
              </a:defRPr>
            </a:pPr>
            <a:r>
              <a:t>Threshold (minutes)  :  0 → 720, par 30 min</a:t>
            </a:r>
          </a:p>
          <a:p>
            <a:pPr>
              <a:spcAft>
                <a:spcPts val="400"/>
              </a:spcAft>
              <a:defRPr sz="1400">
                <a:solidFill>
                  <a:srgbClr val="6A1B9A"/>
                </a:solidFill>
              </a:defRPr>
            </a:pPr>
            <a:r>
              <a:t>Scope  :  All cars  /  Connect cars only</a:t>
            </a:r>
          </a:p>
          <a:p>
            <a:pPr>
              <a:spcAft>
                <a:spcPts val="400"/>
              </a:spcAft>
              <a:defRPr sz="1400">
                <a:solidFill>
                  <a:srgbClr val="6A1B9A"/>
                </a:solidFill>
              </a:defRPr>
            </a:pPr>
            <a:r>
              <a:t>Outputs en temps réel  :  % revenus impactés, % rentals filtrés, % cas résolus</a:t>
            </a:r>
          </a:p>
          <a:p>
            <a:pPr>
              <a:spcAft>
                <a:spcPts val="400"/>
              </a:spcAft>
              <a:defRPr sz="1400">
                <a:solidFill>
                  <a:srgbClr val="6A1B9A"/>
                </a:solidFill>
              </a:defRPr>
            </a:pPr>
            <a:r>
              <a:t>Recommandation par défaut : seuil 60-90 min sur Connect cars uniquement</a:t>
            </a:r>
          </a:p>
          <a:p>
            <a:pPr>
              <a:spcAft>
                <a:spcPts val="400"/>
              </a:spcAft>
              <a:defRPr sz="1400">
                <a:solidFill>
                  <a:srgbClr val="6A1B9A"/>
                </a:solidFill>
              </a:defRPr>
            </a:pPr>
            <a:r>
              <a:t>    → 65% des problèmes résolus, &lt;5% du revenu impacté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773"/>
                </a:solidFill>
              </a:defRPr>
            </a:pPr>
            <a:r>
              <a:t>Aymeric Lahonde — CDSD Jedha 2026 — RNCP35288  ·  Bloc 5 Getaround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BFA5"/>
                </a:solidFill>
              </a:defRPr>
            </a:pPr>
            <a: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A1B9A"/>
                </a:solidFill>
              </a:defRPr>
            </a:pPr>
            <a:r>
              <a:t>API /predict — pricing optimization</a:t>
            </a:r>
          </a:p>
          <a:p>
            <a:pPr>
              <a:defRPr sz="1300" i="1">
                <a:solidFill>
                  <a:srgbClr val="00BFA5"/>
                </a:solidFill>
              </a:defRPr>
            </a:pPr>
            <a:r>
              <a:t>FastAPI + Pydantic + Docker + HF Spaces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4846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2000" b="1">
                <a:solidFill>
                  <a:srgbClr val="00BFA5"/>
                </a:solidFill>
              </a:defRPr>
            </a:pPr>
            <a:r>
              <a:t>Endpoints livrés</a:t>
            </a:r>
          </a:p>
          <a:p>
            <a:pPr>
              <a:spcBef>
                <a:spcPts val="300"/>
              </a:spcBef>
              <a:defRPr sz="1400">
                <a:solidFill>
                  <a:srgbClr val="6A1B9A"/>
                </a:solidFill>
              </a:defRPr>
            </a:pPr>
            <a:r>
              <a:t>•  POST  /predict  →  pricing recommandé</a:t>
            </a:r>
          </a:p>
          <a:p>
            <a:pPr>
              <a:spcBef>
                <a:spcPts val="300"/>
              </a:spcBef>
              <a:defRPr sz="1300">
                <a:solidFill>
                  <a:srgbClr val="5A5773"/>
                </a:solidFill>
              </a:defRPr>
            </a:pPr>
            <a:r>
              <a:t>      body  :  { "input": [[...11 features...], ...] }</a:t>
            </a:r>
          </a:p>
          <a:p>
            <a:pPr>
              <a:spcBef>
                <a:spcPts val="300"/>
              </a:spcBef>
              <a:defRPr sz="1300">
                <a:solidFill>
                  <a:srgbClr val="5A5773"/>
                </a:solidFill>
              </a:defRPr>
            </a:pPr>
            <a:r>
              <a:t>      return  :  { "prediction": [73.5, 91.2] }</a:t>
            </a:r>
          </a:p>
          <a:p>
            <a:pPr>
              <a:spcBef>
                <a:spcPts val="300"/>
              </a:spcBef>
              <a:defRPr sz="1400">
                <a:solidFill>
                  <a:srgbClr val="6A1B9A"/>
                </a:solidFill>
              </a:defRPr>
            </a:pPr>
            <a:r>
              <a:t>•  GET   /docs    →  documentation OpenAPI auto-générée</a:t>
            </a:r>
          </a:p>
          <a:p>
            <a:pPr>
              <a:spcBef>
                <a:spcPts val="300"/>
              </a:spcBef>
              <a:defRPr sz="1400">
                <a:solidFill>
                  <a:srgbClr val="6A1B9A"/>
                </a:solidFill>
              </a:defRPr>
            </a:pPr>
            <a:r>
              <a:t>•  GET   /        →  health check + page d'accueil HTML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280160"/>
            <a:ext cx="5486400" cy="4846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2000" b="1">
                <a:solidFill>
                  <a:srgbClr val="6A1B9A"/>
                </a:solidFill>
              </a:defRPr>
            </a:pPr>
            <a:r>
              <a:t>Modèle ML servi</a:t>
            </a:r>
          </a:p>
          <a:p>
            <a:pPr>
              <a:spcBef>
                <a:spcPts val="300"/>
              </a:spcBef>
              <a:defRPr sz="1400">
                <a:solidFill>
                  <a:srgbClr val="6A1B9A"/>
                </a:solidFill>
              </a:defRPr>
            </a:pPr>
            <a:r>
              <a:t>•  Random Forest Regressor (sklearn)</a:t>
            </a:r>
          </a:p>
          <a:p>
            <a:pPr>
              <a:spcBef>
                <a:spcPts val="300"/>
              </a:spcBef>
              <a:defRPr sz="1400">
                <a:solidFill>
                  <a:srgbClr val="6A1B9A"/>
                </a:solidFill>
              </a:defRPr>
            </a:pPr>
            <a:r>
              <a:t>•  Tracké sur MLflow  →  registry  →  modèle production</a:t>
            </a:r>
          </a:p>
          <a:p>
            <a:pPr>
              <a:spcBef>
                <a:spcPts val="300"/>
              </a:spcBef>
              <a:defRPr sz="1400">
                <a:solidFill>
                  <a:srgbClr val="6A1B9A"/>
                </a:solidFill>
              </a:defRPr>
            </a:pPr>
            <a:r>
              <a:t>•  11 features  :  mileage, fuel, gear, seats, ...</a:t>
            </a:r>
          </a:p>
          <a:p>
            <a:pPr>
              <a:spcBef>
                <a:spcPts val="300"/>
              </a:spcBef>
              <a:defRPr sz="1400">
                <a:solidFill>
                  <a:srgbClr val="6A1B9A"/>
                </a:solidFill>
              </a:defRPr>
            </a:pPr>
            <a:r>
              <a:t>•  RMSE test  ≈  20 € / jour (cross-validation)</a:t>
            </a:r>
          </a:p>
          <a:p>
            <a:pPr>
              <a:spcBef>
                <a:spcPts val="300"/>
              </a:spcBef>
              <a:defRPr sz="1400">
                <a:solidFill>
                  <a:srgbClr val="6A1B9A"/>
                </a:solidFill>
              </a:defRPr>
            </a:pPr>
            <a:r>
              <a:t>•  Inference latency  &lt;  100 ms par requête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773"/>
                </a:solidFill>
              </a:defRPr>
            </a:pPr>
            <a:r>
              <a:t>Aymeric Lahonde — CDSD Jedha 2026 — RNCP35288  ·  Bloc 5 Getaround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BFA5"/>
                </a:solidFill>
              </a:defRPr>
            </a:pPr>
            <a: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A1B9A"/>
                </a:solidFill>
              </a:defRPr>
            </a:pPr>
            <a:r>
              <a:t>Démo &amp; reproductibilité</a:t>
            </a:r>
          </a:p>
          <a:p>
            <a:pPr>
              <a:defRPr sz="1300" i="1">
                <a:solidFill>
                  <a:srgbClr val="00BFA5"/>
                </a:solidFill>
              </a:defRPr>
            </a:pPr>
            <a:r>
              <a:t>Comment le jury peut tester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4846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2000" b="1">
                <a:solidFill>
                  <a:srgbClr val="00BFA5"/>
                </a:solidFill>
              </a:defRPr>
            </a:pPr>
            <a:r>
              <a:t>Test live (à montrer en jury)</a:t>
            </a:r>
          </a:p>
          <a:p>
            <a:pPr>
              <a:spcBef>
                <a:spcPts val="300"/>
              </a:spcBef>
              <a:defRPr sz="1400">
                <a:solidFill>
                  <a:srgbClr val="6A1B9A"/>
                </a:solidFill>
              </a:defRPr>
            </a:pPr>
            <a:r>
              <a:t>•  1.  Ouvrir l'URL Streamlit  →  jouer avec sliders</a:t>
            </a:r>
          </a:p>
          <a:p>
            <a:pPr>
              <a:spcBef>
                <a:spcPts val="300"/>
              </a:spcBef>
              <a:defRPr sz="1400">
                <a:solidFill>
                  <a:srgbClr val="6A1B9A"/>
                </a:solidFill>
              </a:defRPr>
            </a:pPr>
            <a:r>
              <a:t>•  2.  Ouvrir l'URL FastAPI /docs  →  Swagger UI</a:t>
            </a:r>
          </a:p>
          <a:p>
            <a:pPr>
              <a:spcBef>
                <a:spcPts val="300"/>
              </a:spcBef>
              <a:defRPr sz="1400">
                <a:solidFill>
                  <a:srgbClr val="6A1B9A"/>
                </a:solidFill>
              </a:defRPr>
            </a:pPr>
            <a:r>
              <a:t>•  3.  curl POST /predict  →  voir la prédiction</a:t>
            </a:r>
          </a:p>
          <a:p>
            <a:pPr>
              <a:spcBef>
                <a:spcPts val="300"/>
              </a:spcBef>
              <a:defRPr sz="1400">
                <a:solidFill>
                  <a:srgbClr val="6A1B9A"/>
                </a:solidFill>
              </a:defRPr>
            </a:pPr>
            <a:r>
              <a:t>•  4.  Montrer le repo GitHub  :  README + Dockerfiles</a:t>
            </a:r>
          </a:p>
          <a:p>
            <a:pPr>
              <a:spcBef>
                <a:spcPts val="300"/>
              </a:spcBef>
              <a:defRPr sz="1400">
                <a:solidFill>
                  <a:srgbClr val="6A1B9A"/>
                </a:solidFill>
              </a:defRPr>
            </a:pPr>
            <a:r>
              <a:t>•  5.  MLflow UI local pour show les runs trackés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280160"/>
            <a:ext cx="5486400" cy="4846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2000" b="1">
                <a:solidFill>
                  <a:srgbClr val="6A1B9A"/>
                </a:solidFill>
              </a:defRPr>
            </a:pPr>
            <a:r>
              <a:t>Reproductibilité local</a:t>
            </a:r>
          </a:p>
          <a:p>
            <a:pPr>
              <a:spcBef>
                <a:spcPts val="300"/>
              </a:spcBef>
              <a:defRPr sz="1400">
                <a:solidFill>
                  <a:srgbClr val="6A1B9A"/>
                </a:solidFill>
              </a:defRPr>
            </a:pPr>
            <a:r>
              <a:t>•  git clone du repo</a:t>
            </a:r>
          </a:p>
          <a:p>
            <a:pPr>
              <a:spcBef>
                <a:spcPts val="300"/>
              </a:spcBef>
              <a:defRPr sz="1400">
                <a:solidFill>
                  <a:srgbClr val="6A1B9A"/>
                </a:solidFill>
              </a:defRPr>
            </a:pPr>
            <a:r>
              <a:t>•  docker-compose up  →  les 2 services tournent</a:t>
            </a:r>
          </a:p>
          <a:p>
            <a:pPr>
              <a:spcBef>
                <a:spcPts val="300"/>
              </a:spcBef>
              <a:defRPr sz="1400">
                <a:solidFill>
                  <a:srgbClr val="6A1B9A"/>
                </a:solidFill>
              </a:defRPr>
            </a:pPr>
            <a:r>
              <a:t>•  Variables d'env via .env (template fourni)</a:t>
            </a:r>
          </a:p>
          <a:p>
            <a:pPr>
              <a:spcBef>
                <a:spcPts val="300"/>
              </a:spcBef>
              <a:defRPr sz="1300">
                <a:solidFill>
                  <a:srgbClr val="5A5773"/>
                </a:solidFill>
              </a:defRPr>
            </a:pPr>
            <a:r>
              <a:t>      → MLFLOW_TRACKING_URI / MODEL_NAME</a:t>
            </a:r>
          </a:p>
          <a:p>
            <a:pPr>
              <a:spcBef>
                <a:spcPts val="300"/>
              </a:spcBef>
              <a:defRPr sz="1400">
                <a:solidFill>
                  <a:srgbClr val="6A1B9A"/>
                </a:solidFill>
              </a:defRPr>
            </a:pPr>
            <a:r>
              <a:t>•  Tests unitaires pytest sur les routes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773"/>
                </a:solidFill>
              </a:defRPr>
            </a:pPr>
            <a:r>
              <a:t>Aymeric Lahonde — CDSD Jedha 2026 — RNCP35288  ·  Bloc 5 Getaround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BFA5"/>
                </a:solidFill>
              </a:defRPr>
            </a:pPr>
            <a: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A1B9A"/>
                </a:solidFill>
              </a:defRPr>
            </a:pPr>
            <a:r>
              <a:t>Conclusion &amp; perspectives</a:t>
            </a:r>
          </a:p>
          <a:p>
            <a:pPr>
              <a:defRPr sz="1300" i="1">
                <a:solidFill>
                  <a:srgbClr val="00BFA5"/>
                </a:solidFill>
              </a:defRPr>
            </a:pPr>
            <a:r>
              <a:t>Bloc 5 — Deployment full-stack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0BFA5"/>
                </a:solidFill>
              </a:defRPr>
            </a:pPr>
            <a:r>
              <a:t>Acquis du projet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spcBef>
                <a:spcPts val="500"/>
              </a:spcBef>
              <a:defRPr sz="1300">
                <a:solidFill>
                  <a:srgbClr val="6A1B9A"/>
                </a:solidFill>
              </a:defRPr>
            </a:pPr>
            <a:r>
              <a:t>✓  Pipeline MLOps complet (MLflow + Docker + HF)</a:t>
            </a:r>
          </a:p>
          <a:p>
            <a:pPr>
              <a:spcBef>
                <a:spcPts val="500"/>
              </a:spcBef>
              <a:defRPr sz="1300">
                <a:solidFill>
                  <a:srgbClr val="6A1B9A"/>
                </a:solidFill>
              </a:defRPr>
            </a:pPr>
            <a:r>
              <a:t>✓  Streamlit dashboard interactif</a:t>
            </a:r>
          </a:p>
          <a:p>
            <a:pPr>
              <a:spcBef>
                <a:spcPts val="500"/>
              </a:spcBef>
              <a:defRPr sz="1300">
                <a:solidFill>
                  <a:srgbClr val="6A1B9A"/>
                </a:solidFill>
              </a:defRPr>
            </a:pPr>
            <a:r>
              <a:t>✓  FastAPI + Pydantic + OpenAPI auto</a:t>
            </a:r>
          </a:p>
          <a:p>
            <a:pPr>
              <a:spcBef>
                <a:spcPts val="500"/>
              </a:spcBef>
              <a:defRPr sz="1300">
                <a:solidFill>
                  <a:srgbClr val="6A1B9A"/>
                </a:solidFill>
              </a:defRPr>
            </a:pPr>
            <a:r>
              <a:t>✓  Docker multi-stage + docker-compose</a:t>
            </a:r>
          </a:p>
          <a:p>
            <a:pPr>
              <a:spcBef>
                <a:spcPts val="500"/>
              </a:spcBef>
              <a:defRPr sz="1300">
                <a:solidFill>
                  <a:srgbClr val="6A1B9A"/>
                </a:solidFill>
              </a:defRPr>
            </a:pPr>
            <a:r>
              <a:t>✓  Déploiement HuggingFace Spaces gratuit</a:t>
            </a:r>
          </a:p>
          <a:p>
            <a:pPr>
              <a:spcBef>
                <a:spcPts val="500"/>
              </a:spcBef>
              <a:defRPr sz="1300">
                <a:solidFill>
                  <a:srgbClr val="6A1B9A"/>
                </a:solidFill>
              </a:defRPr>
            </a:pPr>
            <a:r>
              <a:t>✓  Tests unitaires pytest sur les routes</a:t>
            </a:r>
          </a:p>
          <a:p>
            <a:pPr>
              <a:spcBef>
                <a:spcPts val="500"/>
              </a:spcBef>
              <a:defRPr sz="1300">
                <a:solidFill>
                  <a:srgbClr val="6A1B9A"/>
                </a:solidFill>
              </a:defRPr>
            </a:pPr>
            <a:r>
              <a:t>✓  Documentation publique /docs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6A1B9A"/>
                </a:solidFill>
              </a:defRPr>
            </a:pPr>
            <a:r>
              <a:t>Pour aller en production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4864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spcBef>
                <a:spcPts val="500"/>
              </a:spcBef>
              <a:defRPr sz="1300">
                <a:solidFill>
                  <a:srgbClr val="6A1B9A"/>
                </a:solidFill>
              </a:defRPr>
            </a:pPr>
            <a:r>
              <a:t>→  CI/CD GitHub Actions  →  build + deploy auto</a:t>
            </a:r>
          </a:p>
          <a:p>
            <a:pPr>
              <a:spcBef>
                <a:spcPts val="500"/>
              </a:spcBef>
              <a:defRPr sz="1300">
                <a:solidFill>
                  <a:srgbClr val="6A1B9A"/>
                </a:solidFill>
              </a:defRPr>
            </a:pPr>
            <a:r>
              <a:t>→  Cloud production  :  AWS ECS ou GCP Cloud Run</a:t>
            </a:r>
          </a:p>
          <a:p>
            <a:pPr>
              <a:spcBef>
                <a:spcPts val="500"/>
              </a:spcBef>
              <a:defRPr sz="1300">
                <a:solidFill>
                  <a:srgbClr val="6A1B9A"/>
                </a:solidFill>
              </a:defRPr>
            </a:pPr>
            <a:r>
              <a:t>→  Monitoring  :  Prometheus + Grafana</a:t>
            </a:r>
          </a:p>
          <a:p>
            <a:pPr>
              <a:spcBef>
                <a:spcPts val="500"/>
              </a:spcBef>
              <a:defRPr sz="1300">
                <a:solidFill>
                  <a:srgbClr val="6A1B9A"/>
                </a:solidFill>
              </a:defRPr>
            </a:pPr>
            <a:r>
              <a:t>→  Auth  :  API key ou JWT sur /predict</a:t>
            </a:r>
          </a:p>
          <a:p>
            <a:pPr>
              <a:spcBef>
                <a:spcPts val="500"/>
              </a:spcBef>
              <a:defRPr sz="1300">
                <a:solidFill>
                  <a:srgbClr val="6A1B9A"/>
                </a:solidFill>
              </a:defRPr>
            </a:pPr>
            <a:r>
              <a:t>→  Cache  :  Redis pour les prédictions répétées</a:t>
            </a:r>
          </a:p>
          <a:p>
            <a:pPr>
              <a:spcBef>
                <a:spcPts val="500"/>
              </a:spcBef>
              <a:defRPr sz="1300">
                <a:solidFill>
                  <a:srgbClr val="6A1B9A"/>
                </a:solidFill>
              </a:defRPr>
            </a:pPr>
            <a:r>
              <a:t>→  Re-training pipeline schedulé (Airflow)</a:t>
            </a:r>
          </a:p>
          <a:p>
            <a:pPr>
              <a:spcBef>
                <a:spcPts val="500"/>
              </a:spcBef>
              <a:defRPr sz="1300">
                <a:solidFill>
                  <a:srgbClr val="6A1B9A"/>
                </a:solidFill>
              </a:defRPr>
            </a:pPr>
            <a:r>
              <a:t>→  A/B test : threshold 60 vs 90 min en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BFA5"/>
                </a:solidFill>
              </a:defRPr>
            </a:pPr>
            <a:r>
              <a:t>Merci pour votre attention  —  questions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773"/>
                </a:solidFill>
              </a:defRPr>
            </a:pPr>
            <a:r>
              <a:t>Aymeric Lahonde — CDSD Jedha 2026 — RNCP35288  ·  Bloc 5 Getaround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BFA5"/>
                </a:solidFill>
              </a:defRPr>
            </a:pPr>
            <a:r>
              <a:t>6 /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🔗 Liens du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B8C4D4"/>
                </a:solidFill>
              </a:rPr>
              <a:t>Code (GitHub) : </a:t>
            </a:r>
            <a:r>
              <a:rPr sz="1800">
                <a:solidFill>
                  <a:srgbClr val="6CB6FF"/>
                </a:solidFill>
                <a:hlinkClick r:id="rId2"/>
              </a:rPr>
              <a:t>https://github.com/aymericlahonde-dotcom/cdsd-b5-getaround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B8C4D4"/>
                </a:solidFill>
              </a:rPr>
              <a:t>Dashboard (HF) : </a:t>
            </a:r>
            <a:r>
              <a:rPr sz="1800">
                <a:solidFill>
                  <a:srgbClr val="6CB6FF"/>
                </a:solidFill>
                <a:hlinkClick r:id="rId3"/>
              </a:rPr>
              <a:t>https://huggingface.co/spaces/Alh92500/getaround-dashboard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B8C4D4"/>
                </a:solidFill>
              </a:rPr>
              <a:t>MLflow (HF) : </a:t>
            </a:r>
            <a:r>
              <a:rPr sz="1800">
                <a:solidFill>
                  <a:srgbClr val="6CB6FF"/>
                </a:solidFill>
                <a:hlinkClick r:id="rId4"/>
              </a:rPr>
              <a:t>https://alh92500-getaround-mlflow.hf.space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