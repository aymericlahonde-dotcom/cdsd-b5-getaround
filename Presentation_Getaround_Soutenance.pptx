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 s — INTRO]</a:t>
            </a:r>
          </a:p>
          <a:p>
            <a:r>
              <a:t>Bonjour. Je présente le projet Getaround du Bloc 5 : industrialisation et déploiement.</a:t>
            </a:r>
          </a:p>
          <a:p>
            <a:r>
              <a:t>Getaround, c'est l'Airbnb des voitures : 5 millions d'utilisateurs, 20 000 véhicules.</a:t>
            </a:r>
          </a:p>
          <a:p>
            <a:r>
              <a:t>Deux demandes : un dashboard d'aide à la décision pour le PM, et une API de prédiction de prix.</a:t>
            </a:r>
          </a:p>
          <a:p>
            <a:r>
              <a:t>Je vais commencer par vous montrer l'API de prédiction en fonctionnement, puisque c'est le cœur du bloc, puis le dashboard, puis comment tout est industrialisé.</a:t>
            </a:r>
          </a:p>
          <a:p>
            <a:r>
              <a:t>Les liens en bas de chaque slide sont cliquables.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 s — SOLUTION]</a:t>
            </a:r>
          </a:p>
          <a:p>
            <a:r>
              <a:t>Deux besoins, trois livrables. Le point important : les deux axes sont reliés, le dashboard consomme l'API de pricing via HTTP. C'est ce que je vous montre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 — VISION API]</a:t>
            </a:r>
          </a:p>
          <a:p>
            <a:r>
              <a:t>Le flux : un client envoie un JSON avec 13 valeurs par voiture, l'API applique le pipeline sklearn et renvoie une liste de prix en euros par jour.</a:t>
            </a:r>
          </a:p>
          <a:p>
            <a:r>
              <a:t>Pourquoi une API et pas un notebook : n'importe quel client HTTP peut l'utiliser, le contrat est documenté, et on peut redéployer le modèle sans toucher aux clients.</a:t>
            </a:r>
          </a:p>
          <a:p>
            <a:r>
              <a:t>Trois clients concrets : le dashboard, Swagger, curl.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 30 — API EN DÉTAIL + DÉMO]</a:t>
            </a:r>
          </a:p>
          <a:p>
            <a:r>
              <a:t>→ DÉMO ICI : j'ouvre /docs, Try it out sur /predict avec l'exemple, réponse 200 avec le prix. Puis /health. Puis le curl dans le terminal.</a:t>
            </a:r>
          </a:p>
          <a:p>
            <a:r>
              <a:t>Quatre endpoints. /predict respecte exactement le format de l'énoncé : une liste de listes en entrée, une liste de prix en sortie.</a:t>
            </a:r>
          </a:p>
          <a:p>
            <a:r>
              <a:t>Le modèle est un pipeline sklearn complet, tracké avec MLflow, exporté en joblib et embarqué dans l'image Docker : l'API n'a aucune dépendance réseau au démarrage.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 30 — DÉMO DASHBOARD → API]</a:t>
            </a:r>
          </a:p>
          <a:p>
            <a:r>
              <a:t>→ DÉMO ICI : onglet Estimer un prix, je change la marque et le kilométrage, je clique. Prix affiché. J'ouvre les détails : voilà le JSON envoyé, voilà la réponse brute de l'API, voilà le curl équivalent.</a:t>
            </a:r>
          </a:p>
          <a:p>
            <a:r>
              <a:t>Point clé pour le jury : le dashboard n'embarque pas le modèle, il consomme l'API par HTTP comme n'importe quel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 — DASHBOARD ANALYSE]</a:t>
            </a:r>
          </a:p>
          <a:p>
            <a:r>
              <a:t>21 310 locations, 44 % de checkouts en retard, 11,8 % des locations consécutives où le client suivant est impacté.</a:t>
            </a:r>
          </a:p>
          <a:p>
            <a:r>
              <a:t>Le PM règle le seuil et le scope, et lit en direct : revenu impacté, locations bloquées, cas résolus. La courbe de trade-off montre le sweet spot vers 60-90 min sur Connect.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 15 — INDUSTRIALISATION]</a:t>
            </a:r>
          </a:p>
          <a:p>
            <a:r>
              <a:t>Le script d'entraînement prend ses hyperparamètres en ligne de commande, logue tout dans MLflow (autolog + signature + registry) et exporte le pipeline en joblib.</a:t>
            </a:r>
          </a:p>
          <a:p>
            <a:r>
              <a:t>L'image Docker de l'API embarque ce joblib : aucune dépendance réseau au boot. J'avais d'abord chargé le modèle depuis un serveur MLflow sur HF Spaces : sans stockage persistant, les artifacts disparaissaient au redémarrage et l'API crashait. D'où ce choix.</a:t>
            </a:r>
          </a:p>
          <a:p>
            <a:r>
              <a:t>→ Si le temps le permet : montrer mlflow ui en local avec les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 s — DÉMO / SECOURS]</a:t>
            </a:r>
          </a:p>
          <a:p>
            <a:r>
              <a:t>Si la démo a déjà été faite aux slides 4 et 5, cette slide sert de récapitulatif et de filet de sécurité : tous les liens sont cliquables, le jury peut tester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 s — CONCLUSION]</a:t>
            </a:r>
          </a:p>
          <a:p>
            <a:r>
              <a:t>Ce que le bloc demande est en place : un modèle industrialisé, servi par une API documentée et testée, et accessible par une interface web qui l'utilise réellement.</a:t>
            </a:r>
          </a:p>
          <a:p>
            <a:r>
              <a:t>Pistes : CI/CD, stockage persistant pour MLflow, validation plus stricte des entrées, auth, meilleurs modèles.</a:t>
            </a:r>
          </a:p>
          <a:p>
            <a:r>
              <a:t>Merci, je suis prêt pour vos questions — et pour refaire n'importe quelle étape de la démo.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alh92500-getaround-api.hf.space/health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/blob/main/api/main.py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api.hf.space/docs" TargetMode="External"/><Relationship Id="rId3" Type="http://schemas.openxmlformats.org/officeDocument/2006/relationships/hyperlink" Target="https://alh92500-getaround-api.hf.space/health" TargetMode="External"/><Relationship Id="rId4" Type="http://schemas.openxmlformats.org/officeDocument/2006/relationships/hyperlink" Target="https://huggingface.co/spaces/Alh92500/getaround-api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github.com/aymericlahonde-dotcom/cdsd-b5-getaround/blob/main/dashboard/pricing_client.py" TargetMode="External"/><Relationship Id="rId4" Type="http://schemas.openxmlformats.org/officeDocument/2006/relationships/hyperlink" Target="https://github.com/aymericlahonde-dotcom/cdsd-b5-getaround/blob/main/dashboard/pricing_ui.py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huggingface.co/spaces/Alh92500/getaround-dashboard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ymericlahonde-dotcom/cdsd-b5-getaround" TargetMode="External"/><Relationship Id="rId3" Type="http://schemas.openxmlformats.org/officeDocument/2006/relationships/hyperlink" Target="https://github.com/aymericlahonde-dotcom/cdsd-b5-getaround/blob/main/api/Dockerfile" TargetMode="External"/><Relationship Id="rId4" Type="http://schemas.openxmlformats.org/officeDocument/2006/relationships/hyperlink" Target="https://github.com/aymericlahonde-dotcom/cdsd-b5-getaround/blob/main/notebooks/01_train_pricing.py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alh92500-getaround-api.hf.space/health" TargetMode="External"/><Relationship Id="rId5" Type="http://schemas.openxmlformats.org/officeDocument/2006/relationships/hyperlink" Target="https://github.com/aymericlahonde-dotcom/cdsd-b5-getaround" TargetMode="Externa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h92500-getaround-dashboard.hf.space" TargetMode="External"/><Relationship Id="rId3" Type="http://schemas.openxmlformats.org/officeDocument/2006/relationships/hyperlink" Target="https://alh92500-getaround-api.hf.space/docs" TargetMode="External"/><Relationship Id="rId4" Type="http://schemas.openxmlformats.org/officeDocument/2006/relationships/hyperlink" Target="https://github.com/aymericlahonde-dotcom/cdsd-b5-getaround" TargetMode="Externa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365760" cy="3200400"/>
          </a:xfrm>
          <a:prstGeom prst="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6A1B9A"/>
                </a:solidFill>
              </a:defRPr>
            </a:pPr>
            <a:r>
              <a:t>Getaround — Delay analysis &amp; Pricing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5A5773"/>
                </a:solidFill>
              </a:defRPr>
            </a:pPr>
            <a:r>
              <a:t>Bloc 5 — Industrialisation &amp; déploiement (Streamlit + MLflow + FastAPI + Docker + HF Spaces)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106984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000" b="1">
                <a:solidFill>
                  <a:srgbClr val="00BFA5"/>
                </a:solidFill>
              </a:defRPr>
            </a:pPr>
            <a:r>
              <a:t>Ce qu'attend Getaround</a:t>
            </a:r>
          </a:p>
          <a:p>
            <a:pPr>
              <a:spcBef>
                <a:spcPts val="400"/>
              </a:spcBef>
              <a:defRPr sz="1500">
                <a:solidFill>
                  <a:srgbClr val="6A1B9A"/>
                </a:solidFill>
              </a:defRPr>
            </a:pPr>
            <a:r>
              <a:t>•  Un dashboard pour aider le Product Manager à choisir un délai minimum entre 2 locations</a:t>
            </a:r>
          </a:p>
          <a:p>
            <a:pPr>
              <a:spcBef>
                <a:spcPts val="400"/>
              </a:spcBef>
              <a:defRPr sz="1500">
                <a:solidFill>
                  <a:srgbClr val="6A1B9A"/>
                </a:solidFill>
              </a:defRPr>
            </a:pPr>
            <a:r>
              <a:t>•  Une API POST /predict qui renvoie un prix journalier à partir de 13 caractéristiques</a:t>
            </a:r>
          </a:p>
          <a:p>
            <a:pPr>
              <a:spcBef>
                <a:spcPts val="400"/>
              </a:spcBef>
              <a:defRPr sz="1500">
                <a:solidFill>
                  <a:srgbClr val="6A1B9A"/>
                </a:solidFill>
              </a:defRPr>
            </a:pPr>
            <a:r>
              <a:t>•  Une documentation /docs publique et une mise en ligne (HuggingFace Spaces)</a:t>
            </a:r>
          </a:p>
          <a:p>
            <a:pPr>
              <a:spcBef>
                <a:spcPts val="400"/>
              </a:spcBef>
              <a:defRPr sz="1500">
                <a:solidFill>
                  <a:srgbClr val="6A1B9A"/>
                </a:solidFill>
              </a:defRPr>
            </a:pPr>
            <a:r>
              <a:t>•  Le code sur GitHub, reproductible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773"/>
                </a:solidFill>
              </a:defRPr>
            </a:pPr>
            <a:r>
              <a:t>Aymeric Lahonde — CDSD Jedha 2026 — RNCP35288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8138160" y="45720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9550908" y="45720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API /docs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10963656" y="457200"/>
            <a:ext cx="9875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La solution en une slide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Deux besoins métier → trois livrables en ligne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6A1B9A"/>
                </a:solidFill>
              </a:defRPr>
            </a:pPr>
            <a:r>
              <a:t>1. Besoin PM : seuil entre 2 locations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Retards de checkout → friction pour le client suivant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Un délai minimum réduit les frictions mais coûte du revenu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→ Dashboard Streamlit : simuler seuil × scope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Réponses aux 4 questions du PM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28016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00BFA5"/>
                </a:solidFill>
              </a:defRPr>
            </a:pPr>
            <a:r>
              <a:t>2. Besoin Data Science : pricing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Suggérer un prix journalier aux propriétaires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→ Modèle Random Forest entraîné et tracké (MLflow)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→ API FastAPI POST /predict, format imposé par l'énoncé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→ Le dashboard appelle cette API (onglet « Estimer un prix »)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28016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11B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311B92"/>
                </a:solidFill>
              </a:defRPr>
            </a:pPr>
            <a:r>
              <a:t>3. Industrialisation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2 images Docker (dashboard, API)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2 Spaces HuggingFace publics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11 tests pytest (API + client dashboard)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Script deploy.py, README, code GitHub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457200" y="598932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1869948" y="598932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API /docs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3282696" y="5989320"/>
            <a:ext cx="146761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API /health</a:t>
            </a:r>
          </a:p>
        </p:txBody>
      </p:sp>
      <p:sp>
        <p:nvSpPr>
          <p:cNvPr id="11" name="Rounded Rectangle 10">
            <a:hlinkClick r:id="rId5"/>
          </p:cNvPr>
          <p:cNvSpPr/>
          <p:nvPr/>
        </p:nvSpPr>
        <p:spPr>
          <a:xfrm>
            <a:off x="4887468" y="5989320"/>
            <a:ext cx="9875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5"/>
              </a:rPr>
              <a:t>🔗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Vision de l'API de pricing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À quoi elle sert, qui l'appelle, ce qu'elle renvoie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40330" cy="1371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Client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dashboard Streamlit</a:t>
            </a:r>
            <a:br/>
            <a:r>
              <a:t>curl / Python requests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12530" y="1874520"/>
            <a:ext cx="198600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26130" y="1371600"/>
            <a:ext cx="2640330" cy="1371600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POST /predict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JSON {"input": [[13 valeurs]]}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1460" y="1874520"/>
            <a:ext cx="198600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5060" y="1371600"/>
            <a:ext cx="2640330" cy="1371600"/>
          </a:xfrm>
          <a:prstGeom prst="roundRect">
            <a:avLst/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Pipeline sklearn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OneHot + Scaler</a:t>
            </a:r>
            <a:br/>
            <a:r>
              <a:t>+ RandomForest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50390" y="1874520"/>
            <a:ext cx="198600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63990" y="1371600"/>
            <a:ext cx="2640330" cy="137160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Réponse JSON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{"prediction": [120.15]}</a:t>
            </a:r>
            <a:br/>
            <a:r>
              <a:t>€ /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54864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6A1B9A"/>
                </a:solidFill>
              </a:defRPr>
            </a:pPr>
            <a:r>
              <a:t>Pourquoi une API ?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Le modèle est utilisable par n'importe quel client HTTP, sans connaître sklearn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Un seul modèle servi, versionné (joblib exporté depuis le run MLflow)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Contrat d'entrée/sortie documenté automatiquement (OpenAPI /docs)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Découplage : on peut ré-entraîner et redéployer sans toucher aux clients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17520"/>
            <a:ext cx="548640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00BFA5"/>
                </a:solidFill>
              </a:defRPr>
            </a:pPr>
            <a:r>
              <a:t>Qui l'appelle aujourd'hui ?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Le dashboard Streamlit (onglet « Estimer un prix ») via requests.post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Swagger UI /docs (bouton Try it out) — pour le jury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curl / Python requests — commande de l'énoncé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Les tests pytest (TestClient) à chaque modification</a:t>
            </a:r>
          </a:p>
        </p:txBody>
      </p:sp>
      <p:sp>
        <p:nvSpPr>
          <p:cNvPr id="14" name="Rounded Rectangle 13">
            <a:hlinkClick r:id="rId2"/>
          </p:cNvPr>
          <p:cNvSpPr/>
          <p:nvPr/>
        </p:nvSpPr>
        <p:spPr>
          <a:xfrm>
            <a:off x="457200" y="5989320"/>
            <a:ext cx="3003804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 → Estimer un prix</a:t>
            </a:r>
          </a:p>
        </p:txBody>
      </p:sp>
      <p:sp>
        <p:nvSpPr>
          <p:cNvPr id="15" name="Rounded Rectangle 14">
            <a:hlinkClick r:id="rId3"/>
          </p:cNvPr>
          <p:cNvSpPr/>
          <p:nvPr/>
        </p:nvSpPr>
        <p:spPr>
          <a:xfrm>
            <a:off x="3598164" y="598932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API /docs</a:t>
            </a:r>
          </a:p>
        </p:txBody>
      </p:sp>
      <p:sp>
        <p:nvSpPr>
          <p:cNvPr id="16" name="Rounded Rectangle 15">
            <a:hlinkClick r:id="rId4"/>
          </p:cNvPr>
          <p:cNvSpPr/>
          <p:nvPr/>
        </p:nvSpPr>
        <p:spPr>
          <a:xfrm>
            <a:off x="5010912" y="5989320"/>
            <a:ext cx="2139696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GitHub api/main.py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L'API en détail — endpoints, entrée, sortie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FastAPI + Pydantic + uvicorn, image Docker, Space HuggingFace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57784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6A1B9A"/>
                </a:solidFill>
              </a:defRPr>
            </a:pPr>
            <a:r>
              <a:t>Endpoints livrés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GET /  — page d'accueil HTML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GET /health  — modèle chargé ? type, 13 features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GET /docs  — Swagger UI (OpenAPI auto-générée)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POST /predict  — prix journalier, 1 ligne = 1 prix</a:t>
            </a:r>
          </a:p>
          <a:p>
            <a:pPr>
              <a:spcBef>
                <a:spcPts val="300"/>
              </a:spcBef>
              <a:defRPr sz="1200">
                <a:solidFill>
                  <a:srgbClr val="311B92"/>
                </a:solidFill>
                <a:latin typeface="Consolas"/>
              </a:defRPr>
            </a:pPr>
            <a:r>
              <a:t>{"input": [["Citroen",140000,100,"diesel","black",</a:t>
            </a:r>
          </a:p>
          <a:p>
            <a:pPr>
              <a:spcBef>
                <a:spcPts val="300"/>
              </a:spcBef>
              <a:defRPr sz="1200">
                <a:solidFill>
                  <a:srgbClr val="311B92"/>
                </a:solidFill>
                <a:latin typeface="Consolas"/>
              </a:defRPr>
            </a:pPr>
            <a:r>
              <a:t>  "convertible",true,true,false,false,true,true,true]]}</a:t>
            </a:r>
          </a:p>
          <a:p>
            <a:pPr>
              <a:spcBef>
                <a:spcPts val="300"/>
              </a:spcBef>
              <a:defRPr sz="1200">
                <a:solidFill>
                  <a:srgbClr val="311B92"/>
                </a:solidFill>
                <a:latin typeface="Consolas"/>
              </a:defRPr>
            </a:pPr>
            <a:r>
              <a:t>→ {"prediction": [120.15]}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Input malformé → 422 avec message explicite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39496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00BFA5"/>
                </a:solidFill>
              </a:defRPr>
            </a:pPr>
            <a:r>
              <a:t>Modèle servi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Pipeline sklearn : OneHotEncoder + StandardScaler + RandomForestRegressor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200 arbres, profondeur max 18, 13 features (4 catégorielles, 2 numériques, 7 booléennes)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Jeu de test (20 %) : RMSE ≈ 16,9 € / jour, MAE ≈ 10,8 € / jour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Tracké dans MLflow (params, métriques, signature, registry getaround_pricer)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Exporté en model.joblib, embarqué dans l'image Docker, chargé au démarrage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scikit-learn épinglé en 1.8.0 (compatibilité du pickle)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A1B9A"/>
                </a:solidFill>
              </a:rPr>
              <a:t>Tester l'API :  </a:t>
            </a:r>
            <a:r>
              <a:rPr sz="1300" u="sng">
                <a:solidFill>
                  <a:srgbClr val="00BFA5"/>
                </a:solidFill>
                <a:hlinkClick r:id="rId2"/>
              </a:rPr>
              <a:t>https://alh92500-getaround-api.hf.space/docs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457200" y="6108192"/>
            <a:ext cx="1659636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Swagger /docs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2253996" y="6108192"/>
            <a:ext cx="1083564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/health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3474720" y="6108192"/>
            <a:ext cx="1563624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Space HF API</a:t>
            </a:r>
          </a:p>
        </p:txBody>
      </p:sp>
      <p:sp>
        <p:nvSpPr>
          <p:cNvPr id="11" name="Rounded Rectangle 10">
            <a:hlinkClick r:id="rId5"/>
          </p:cNvPr>
          <p:cNvSpPr/>
          <p:nvPr/>
        </p:nvSpPr>
        <p:spPr>
          <a:xfrm>
            <a:off x="5175504" y="6108192"/>
            <a:ext cx="9875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5"/>
              </a:rPr>
              <a:t>🔗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Le dashboard utilise l'API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Onglet « Estimer un prix » : formulaire → requests.post → réponse brute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57784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6A1B9A"/>
                </a:solidFill>
              </a:defRPr>
            </a:pPr>
            <a:r>
              <a:t>Ce que voit l'utilisateur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13 champs : listes déroulantes (marque, carburant, couleur, type), km, puissance, 7 options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Bouton « Appeler l'API /predict »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Prix journalier estimé + temps de réponse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Détails techniques : URL appelée, JSON envoyé, JSON reçu, commande curl équivalente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Bouton « Réveiller / vérifier l'API » (GET /health)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URL de l'API modifiable dans la sidebar (secours local)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39496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09728"/>
          <a:lstStyle/>
          <a:p>
            <a:pPr algn="ctr">
              <a:defRPr sz="1700" b="1">
                <a:solidFill>
                  <a:srgbClr val="00BFA5"/>
                </a:solidFill>
              </a:defRPr>
            </a:pPr>
            <a:r>
              <a:t>Ce qui se passe dans le code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pricing_client.py : build_payload → requests.post(url + '/predict', json=…, timeout=60)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Erreurs gérées : timeout (Space endormi), connexion refusée, HTTP ≠ 200 (detail affiché)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pricing_ui.py : formulaire Streamlit + affichage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7 tests pytest sur le client (payload, curl, succès, 422, timeout…)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•  Aucune dépendance à sklearn côté dashboard : seule l'API connaît le modèle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A1B9A"/>
                </a:solidFill>
              </a:rPr>
              <a:t>Ouvrir le dashboard :  </a:t>
            </a:r>
            <a:r>
              <a:rPr sz="1300" u="sng">
                <a:solidFill>
                  <a:srgbClr val="00BFA5"/>
                </a:solidFill>
                <a:hlinkClick r:id="rId2"/>
              </a:rPr>
              <a:t>https://alh92500-getaround-dashboard.hf.space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457200" y="6108192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1869948" y="6108192"/>
            <a:ext cx="271576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GitHub pricing_client.py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4722876" y="6108192"/>
            <a:ext cx="2331720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GitHub pricing_ui.py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Dashboard — analyse du trade-off seuil × scope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Réponses aux 4 questions du Product Manager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4000" b="1">
                <a:solidFill>
                  <a:srgbClr val="00BFA5"/>
                </a:solidFill>
              </a:defRPr>
            </a:pPr>
            <a:r>
              <a:t>21 310</a:t>
            </a:r>
          </a:p>
          <a:p>
            <a:pPr algn="ctr">
              <a:defRPr sz="1500" b="1">
                <a:solidFill>
                  <a:srgbClr val="6A1B9A"/>
                </a:solidFill>
              </a:defRPr>
            </a:pPr>
            <a:r>
              <a:t>locations analysées</a:t>
            </a:r>
          </a:p>
          <a:p>
            <a:pPr algn="ctr">
              <a:spcBef>
                <a:spcPts val="800"/>
              </a:spcBef>
              <a:defRPr sz="1100">
                <a:solidFill>
                  <a:srgbClr val="5A5773"/>
                </a:solidFill>
              </a:defRPr>
            </a:pPr>
            <a:r>
              <a:t>dataset Delay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657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4000" b="1">
                <a:solidFill>
                  <a:srgbClr val="00BFA5"/>
                </a:solidFill>
              </a:defRPr>
            </a:pPr>
            <a:r>
              <a:t>44 %</a:t>
            </a:r>
          </a:p>
          <a:p>
            <a:pPr algn="ctr">
              <a:defRPr sz="1500" b="1">
                <a:solidFill>
                  <a:srgbClr val="6A1B9A"/>
                </a:solidFill>
              </a:defRPr>
            </a:pPr>
            <a:r>
              <a:t>checkouts en retard</a:t>
            </a:r>
          </a:p>
          <a:p>
            <a:pPr algn="ctr">
              <a:spcBef>
                <a:spcPts val="800"/>
              </a:spcBef>
              <a:defRPr sz="1100">
                <a:solidFill>
                  <a:srgbClr val="5A5773"/>
                </a:solidFill>
              </a:defRPr>
            </a:pPr>
            <a:r>
              <a:t>delay &gt; 0 min, toutes locations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71600"/>
            <a:ext cx="3657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4000" b="1">
                <a:solidFill>
                  <a:srgbClr val="00BFA5"/>
                </a:solidFill>
              </a:defRPr>
            </a:pPr>
            <a:r>
              <a:t>11,8 %</a:t>
            </a:r>
          </a:p>
          <a:p>
            <a:pPr algn="ctr">
              <a:defRPr sz="1500" b="1">
                <a:solidFill>
                  <a:srgbClr val="6A1B9A"/>
                </a:solidFill>
              </a:defRPr>
            </a:pPr>
            <a:r>
              <a:t>clients suivants impactés</a:t>
            </a:r>
          </a:p>
          <a:p>
            <a:pPr algn="ctr">
              <a:spcBef>
                <a:spcPts val="800"/>
              </a:spcBef>
              <a:defRPr sz="1100">
                <a:solidFill>
                  <a:srgbClr val="5A5773"/>
                </a:solidFill>
              </a:defRPr>
            </a:pPr>
            <a:r>
              <a:t>sur 1 841 locations consécutives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6A1B9A"/>
                </a:solidFill>
              </a:defRPr>
            </a:pPr>
            <a:r>
              <a:t>Paramètres interactifs : seuil (0 → 720 min) et scope (toutes / Connect uniquement)</a:t>
            </a:r>
          </a:p>
          <a:p>
            <a:pPr>
              <a:spcAft>
                <a:spcPts val="400"/>
              </a:spcAft>
              <a:defRPr sz="1400">
                <a:solidFill>
                  <a:srgbClr val="6A1B9A"/>
                </a:solidFill>
              </a:defRPr>
            </a:pPr>
            <a:r>
              <a:t>Q1 part du revenu impactée · Q2 locations bloquées · Q3 fréquence/amplitude des retards · Q4 cas résolus</a:t>
            </a:r>
          </a:p>
          <a:p>
            <a:pPr>
              <a:spcAft>
                <a:spcPts val="400"/>
              </a:spcAft>
              <a:defRPr sz="1400">
                <a:solidFill>
                  <a:srgbClr val="6A1B9A"/>
                </a:solidFill>
              </a:defRPr>
            </a:pPr>
            <a:r>
              <a:t>Courbe de trade-off : % de cas résolus vs % de revenu impacté selon le seuil</a:t>
            </a:r>
          </a:p>
          <a:p>
            <a:pPr>
              <a:spcAft>
                <a:spcPts val="400"/>
              </a:spcAft>
              <a:defRPr sz="1400">
                <a:solidFill>
                  <a:srgbClr val="6A1B9A"/>
                </a:solidFill>
              </a:defRPr>
            </a:pPr>
            <a:r>
              <a:t>Recommandation : 60 à 90 min sur les voitures Connect (mesure applicable techniquement)</a:t>
            </a:r>
          </a:p>
        </p:txBody>
      </p:sp>
      <p:sp>
        <p:nvSpPr>
          <p:cNvPr id="9" name="Rounded Rectangle 8">
            <a:hlinkClick r:id="rId2"/>
          </p:cNvPr>
          <p:cNvSpPr/>
          <p:nvPr/>
        </p:nvSpPr>
        <p:spPr>
          <a:xfrm>
            <a:off x="457200" y="5989320"/>
            <a:ext cx="33878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 → Analyse des retards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3982212" y="5989320"/>
            <a:ext cx="2139696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Space HF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Industrialisation — de l'entraînement au Space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MLflow → joblib → Docker → HuggingFace Spaces → tests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371600"/>
            <a:ext cx="2172614" cy="1371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01_train_pricing.py</a:t>
            </a:r>
            <a:br/>
            <a:r>
              <a:t>argparse + autolog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12654" y="1874520"/>
            <a:ext cx="124592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57246" y="1371600"/>
            <a:ext cx="2172614" cy="1371600"/>
          </a:xfrm>
          <a:prstGeom prst="roundRect">
            <a:avLst/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MLflow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params, métriques,</a:t>
            </a:r>
            <a:br/>
            <a:r>
              <a:t>signature, registry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49860" y="1874520"/>
            <a:ext cx="124592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94452" y="1371600"/>
            <a:ext cx="2172614" cy="1371600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model.joblib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pipeline exporté,</a:t>
            </a:r>
            <a:br/>
            <a:r>
              <a:t>embarqué dans l'image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87067" y="1874520"/>
            <a:ext cx="124592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31659" y="1371600"/>
            <a:ext cx="2172614" cy="1371600"/>
          </a:xfrm>
          <a:prstGeom prst="roundRect">
            <a:avLst/>
          </a:prstGeom>
          <a:solidFill>
            <a:srgbClr val="311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Docker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python:3.11-slim</a:t>
            </a:r>
            <a:br/>
            <a:r>
              <a:t>user non-root, port 7860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524273" y="1874520"/>
            <a:ext cx="124592" cy="365760"/>
          </a:xfrm>
          <a:prstGeom prst="rightArrow">
            <a:avLst/>
          </a:prstGeom>
          <a:solidFill>
            <a:srgbClr val="5A57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68865" y="1371600"/>
            <a:ext cx="2172614" cy="137160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HF Spaces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2 Spaces Docker</a:t>
            </a:r>
            <a:br/>
            <a:r>
              <a:t>deploy.py (huggingface_hub)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089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6A1B9A"/>
                </a:solidFill>
              </a:defRPr>
            </a:pPr>
            <a:r>
              <a:t>Reproductible en 3 commandes</a:t>
            </a:r>
          </a:p>
          <a:p>
            <a:pPr>
              <a:spcAft>
                <a:spcPts val="400"/>
              </a:spcAft>
              <a:defRPr sz="1500">
                <a:solidFill>
                  <a:srgbClr val="6A1B9A"/>
                </a:solidFill>
              </a:defRPr>
            </a:pPr>
            <a:r>
              <a:t>python notebooks/01_train_pricing.py --n_estimators 200 --max_depth 18</a:t>
            </a:r>
          </a:p>
          <a:p>
            <a:pPr>
              <a:spcAft>
                <a:spcPts val="400"/>
              </a:spcAft>
              <a:defRPr sz="1500">
                <a:solidFill>
                  <a:srgbClr val="6A1B9A"/>
                </a:solidFill>
              </a:defRPr>
            </a:pPr>
            <a:r>
              <a:t>cd api &amp;&amp; uvicorn main:app   →  /docs en local</a:t>
            </a:r>
          </a:p>
          <a:p>
            <a:pPr>
              <a:spcAft>
                <a:spcPts val="400"/>
              </a:spcAft>
              <a:defRPr sz="1500">
                <a:solidFill>
                  <a:srgbClr val="6A1B9A"/>
                </a:solidFill>
              </a:defRPr>
            </a:pPr>
            <a:r>
              <a:t>python deploy.py   →  pousse api/ et dashboard/ sur HF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6A1B9A"/>
                </a:solidFill>
              </a:defRPr>
            </a:pPr>
            <a:r>
              <a:t>Qualité</a:t>
            </a:r>
          </a:p>
          <a:p>
            <a:pPr>
              <a:spcAft>
                <a:spcPts val="400"/>
              </a:spcAft>
              <a:defRPr sz="1500">
                <a:solidFill>
                  <a:srgbClr val="6A1B9A"/>
                </a:solidFill>
              </a:defRPr>
            </a:pPr>
            <a:r>
              <a:t>11 tests pytest : 4 sur l'API (TestClient), 7 sur le client dashboard</a:t>
            </a:r>
          </a:p>
          <a:p>
            <a:pPr>
              <a:spcAft>
                <a:spcPts val="400"/>
              </a:spcAft>
              <a:defRPr sz="1500">
                <a:solidFill>
                  <a:srgbClr val="6A1B9A"/>
                </a:solidFill>
              </a:defRPr>
            </a:pPr>
            <a:r>
              <a:t>Validation Pydantic + 422 explicites sur input malformé</a:t>
            </a:r>
          </a:p>
          <a:p>
            <a:pPr>
              <a:spcAft>
                <a:spcPts val="400"/>
              </a:spcAft>
              <a:defRPr sz="1500">
                <a:solidFill>
                  <a:srgbClr val="6A1B9A"/>
                </a:solidFill>
              </a:defRPr>
            </a:pPr>
            <a:r>
              <a:t>Choix assumé : modèle embarqué (un Space MLflow gratuit perd ses artifacts au redémarrage)</a:t>
            </a:r>
          </a:p>
        </p:txBody>
      </p:sp>
      <p:sp>
        <p:nvSpPr>
          <p:cNvPr id="16" name="Rounded Rectangle 15">
            <a:hlinkClick r:id="rId2"/>
          </p:cNvPr>
          <p:cNvSpPr/>
          <p:nvPr/>
        </p:nvSpPr>
        <p:spPr>
          <a:xfrm>
            <a:off x="457200" y="5989320"/>
            <a:ext cx="9875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GitHub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1581912" y="5989320"/>
            <a:ext cx="175564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Dockerfile API</a:t>
            </a:r>
          </a:p>
        </p:txBody>
      </p:sp>
      <p:sp>
        <p:nvSpPr>
          <p:cNvPr id="18" name="Rounded Rectangle 17">
            <a:hlinkClick r:id="rId4"/>
          </p:cNvPr>
          <p:cNvSpPr/>
          <p:nvPr/>
        </p:nvSpPr>
        <p:spPr>
          <a:xfrm>
            <a:off x="3474720" y="5989320"/>
            <a:ext cx="1851660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Script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Démo live — parcours et plan de secours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Tout est public : le jury peut rejouer chaque étape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846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000" b="1">
                <a:solidFill>
                  <a:srgbClr val="00BFA5"/>
                </a:solidFill>
              </a:defRPr>
            </a:pPr>
            <a:r>
              <a:t>Parcours de démo (dans cet ordre)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1.  Dashboard → onglet Estimer un prix → Appeler l'API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      → prix + JSON envoyé / reçu + curl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2.  Swagger /docs → Try it out sur /predict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3.  /health dans le navigateur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4.  curl POST /predict dans le terminal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5.  Dashboard → onglet Analyse des retards (seuil, scope)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6.  GitHub : README, Dockerfiles,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280160"/>
            <a:ext cx="5486400" cy="4846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2000" b="1">
                <a:solidFill>
                  <a:srgbClr val="6A1B9A"/>
                </a:solidFill>
              </a:defRPr>
            </a:pPr>
            <a:r>
              <a:t>Si quelque chose tombe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Space endormi → 15 s, bouton « Réveiller l'API »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Space API mort → URL sidebar = http://127.0.0.1:8000 (uvicorn local)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Partage d'écran mort → le jury ouvre lui-même /docs (Try it out)</a:t>
            </a:r>
          </a:p>
          <a:p>
            <a:pPr>
              <a:spcBef>
                <a:spcPts val="300"/>
              </a:spcBef>
              <a:defRPr sz="1300">
                <a:solidFill>
                  <a:srgbClr val="5A5773"/>
                </a:solidFill>
              </a:defRPr>
            </a:pPr>
            <a:r>
              <a:t>      → liens cliquables sur chaque slide</a:t>
            </a:r>
          </a:p>
          <a:p>
            <a:pPr>
              <a:spcBef>
                <a:spcPts val="300"/>
              </a:spcBef>
              <a:defRPr sz="1400">
                <a:solidFill>
                  <a:srgbClr val="6A1B9A"/>
                </a:solidFill>
              </a:defRPr>
            </a:pPr>
            <a:r>
              <a:t>•  Connexion morte → captures d'écran + vidéo enregistrée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6675120" y="41148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087868" y="41148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API /docs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9500616" y="411480"/>
            <a:ext cx="146761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API /health</a:t>
            </a:r>
          </a:p>
        </p:txBody>
      </p:sp>
      <p:sp>
        <p:nvSpPr>
          <p:cNvPr id="10" name="Rounded Rectangle 9">
            <a:hlinkClick r:id="rId5"/>
          </p:cNvPr>
          <p:cNvSpPr/>
          <p:nvPr/>
        </p:nvSpPr>
        <p:spPr>
          <a:xfrm>
            <a:off x="11105388" y="411480"/>
            <a:ext cx="9875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5"/>
              </a:rPr>
              <a:t>🔗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6A1B9A"/>
                </a:solidFill>
              </a:defRPr>
            </a:pPr>
            <a:r>
              <a:t>Conclusion &amp; perspectives</a:t>
            </a:r>
          </a:p>
          <a:p>
            <a:pPr>
              <a:defRPr sz="1300" i="1">
                <a:solidFill>
                  <a:srgbClr val="00BFA5"/>
                </a:solidFill>
              </a:defRPr>
            </a:pPr>
            <a:r>
              <a:t>Bloc 5 — un modèle industrialisé et accessible par une interface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00BFA5"/>
                </a:solidFill>
              </a:defRPr>
            </a:pPr>
            <a:r>
              <a:t>Acquis du projet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B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✓  API FastAPI /predict en ligne, documentée (/docs), testée (pytest)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✓  Dashboard Streamlit qui consomme l'API (onglet Estimer un prix)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✓  Modèle tracké MLflow, exporté joblib, embarqué dans Docker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✓  2 Spaces HuggingFace publics + script de déploiement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✓  Code GitHub reproductible (README, requirements, Dockerfiles)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200" b="1">
                <a:solidFill>
                  <a:srgbClr val="6A1B9A"/>
                </a:solidFill>
              </a:defRPr>
            </a:pPr>
            <a:r>
              <a:t>Pour aller en production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48640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→  CI/CD GitHub Actions : tests + build + deploy automatiques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→  Stockage d'artifacts persistant (S3) pour un MLflow distant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→  422 explicite sur valeur catégorielle inconnue (liste des valeurs acceptées)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→  Authentification (API key) et logs structurés sur /predict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→  Comparer GradientBoosting / XGBoost, tuning par validation croisée</a:t>
            </a:r>
          </a:p>
          <a:p>
            <a:pPr>
              <a:spcBef>
                <a:spcPts val="500"/>
              </a:spcBef>
              <a:defRPr sz="1300">
                <a:solidFill>
                  <a:srgbClr val="6A1B9A"/>
                </a:solidFill>
              </a:defRPr>
            </a:pPr>
            <a:r>
              <a:t>→  Monitoring de dérive des prix et ré-entraînement planifié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BFA5"/>
                </a:solidFill>
              </a:defRPr>
            </a:pPr>
            <a:r>
              <a:t>Merci pour votre attention  —  questions ?</a:t>
            </a:r>
          </a:p>
        </p:txBody>
      </p:sp>
      <p:sp>
        <p:nvSpPr>
          <p:cNvPr id="10" name="Rounded Rectangle 9">
            <a:hlinkClick r:id="rId2"/>
          </p:cNvPr>
          <p:cNvSpPr/>
          <p:nvPr/>
        </p:nvSpPr>
        <p:spPr>
          <a:xfrm>
            <a:off x="8138160" y="41148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2"/>
              </a:rPr>
              <a:t>🔗 Dashboard</a:t>
            </a:r>
          </a:p>
        </p:txBody>
      </p:sp>
      <p:sp>
        <p:nvSpPr>
          <p:cNvPr id="11" name="Rounded Rectangle 10">
            <a:hlinkClick r:id="rId3"/>
          </p:cNvPr>
          <p:cNvSpPr/>
          <p:nvPr/>
        </p:nvSpPr>
        <p:spPr>
          <a:xfrm>
            <a:off x="9550908" y="411480"/>
            <a:ext cx="1275588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3"/>
              </a:rPr>
              <a:t>🔗 API /docs</a:t>
            </a:r>
          </a:p>
        </p:txBody>
      </p:sp>
      <p:sp>
        <p:nvSpPr>
          <p:cNvPr id="12" name="Rounded Rectangle 11">
            <a:hlinkClick r:id="rId4"/>
          </p:cNvPr>
          <p:cNvSpPr/>
          <p:nvPr/>
        </p:nvSpPr>
        <p:spPr>
          <a:xfrm>
            <a:off x="10963656" y="411480"/>
            <a:ext cx="987552" cy="347472"/>
          </a:xfrm>
          <a:prstGeom prst="roundRect">
            <a:avLst/>
          </a:prstGeom>
          <a:solidFill>
            <a:srgbClr val="00B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hlinkClick r:id="rId4"/>
              </a:rPr>
              <a:t>🔗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5773"/>
                </a:solidFill>
              </a:defRPr>
            </a:pPr>
            <a:r>
              <a:t>Aymeric Lahonde — CDSD Jedha 2026 — RNCP35288  ·  Bloc 5 Getaround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BFA5"/>
                </a:solidFill>
              </a:defRPr>
            </a:pPr>
            <a: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