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s]</a:t>
            </a:r>
          </a:p>
          <a:p>
            <a:r>
              <a:t>Bonjour. Je présente le projet Getaround du Bloc 5 : industrialisation et déploiement.</a:t>
            </a:r>
          </a:p>
          <a:p>
            <a:r>
              <a:t>Plan : le besoin, les données, l'analyse, la solution, le modèle, l'API, la démo, les limites.</a:t>
            </a:r>
          </a:p>
          <a:p>
            <a:r>
              <a:t>Les liens en bas des slides sont cliquables.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s]</a:t>
            </a:r>
          </a:p>
          <a:p>
            <a:r>
              <a:t>Deux problèmes : les retards de checkout, et le pricing.</a:t>
            </a:r>
          </a:p>
          <a:p>
            <a:r>
              <a:t>Mission : un dashboard d'aide à la décision et une API de prédiction de prix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s]</a:t>
            </a:r>
          </a:p>
          <a:p>
            <a:r>
              <a:t>Le fichier des retards sert au dashboard ; le fichier pricing sert au modèle et à l'API.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min]</a:t>
            </a:r>
          </a:p>
          <a:p>
            <a:r>
              <a:t>44 % des locations sont rendues en retard. Sur les locations consécutives, 11,8 % des clients suivants sont impactés.</a:t>
            </a:r>
          </a:p>
          <a:p>
            <a:r>
              <a:t>Le dashboard permet de simuler le seuil et le périmètre, et de lire le trade-off entre revenu perdu et cas résolus.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min]</a:t>
            </a:r>
          </a:p>
          <a:p>
            <a:r>
              <a:t>Chaîne complète : entraînement tracké dans MLflow, modèle exporté, API FastAPI, image Docker, Space HuggingFace.</a:t>
            </a:r>
          </a:p>
          <a:p>
            <a:r>
              <a:t>Le dashboard consomme l'API par HTTP, comme n'importe quel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s]</a:t>
            </a:r>
          </a:p>
          <a:p>
            <a:r>
              <a:t>Random Forest choisi pour sa robustesse et sa gestion des interactions.</a:t>
            </a:r>
          </a:p>
          <a:p>
            <a:r>
              <a:t>Erreur moyenne de 10,8 € par jour sur des prix autour de 120 €.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s]</a:t>
            </a:r>
          </a:p>
          <a:p>
            <a:r>
              <a:t>Le client envoie 13 valeurs par voiture, l'API renvoie un prix par voiture.</a:t>
            </a:r>
          </a:p>
          <a:p>
            <a:r>
              <a:t>Trois clients concrets : le dashboard, Swagger, curl.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 — DÉMO ICI]</a:t>
            </a:r>
          </a:p>
          <a:p>
            <a:r>
              <a:t>J'ouvre /docs, Try it out sur /predict avec l'exemple, réponse 200 avec le prix. Puis /health.</a:t>
            </a:r>
          </a:p>
          <a:p>
            <a:r>
              <a:t>Le format d'entrée et de sortie est celui de l'énoncé.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 min 30 — DÉMO LIVE]</a:t>
            </a:r>
          </a:p>
          <a:p>
            <a:r>
              <a:t>Onglet Estimer un prix : je change la marque et le kilométrage, je clique. Prix affiché.</a:t>
            </a:r>
          </a:p>
          <a:p>
            <a:r>
              <a:t>J'ouvre les détails : JSON envoyé, réponse brute de l'API, commande curl équivalente.</a:t>
            </a:r>
          </a:p>
          <a:p>
            <a:r>
              <a:t>Puis Swagger : Try it out, Execute, 200.</a:t>
            </a:r>
          </a:p>
          <a:p>
            <a:r>
              <a:t>Si le Space dort : bouton « Réveiller l'API », 15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s]</a:t>
            </a:r>
          </a:p>
          <a:p>
            <a:r>
              <a:t>Limites assumées : approximation du revenu, validation des entrées à renforcer, un seul modèle, cold start, pas d'auth.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s]</a:t>
            </a:r>
          </a:p>
          <a:p>
            <a:r>
              <a:t>Validation stricte, meilleurs modèles, CI/CD, MLflow persistant, sécurité et suivi.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 s]</a:t>
            </a:r>
          </a:p>
          <a:p>
            <a:r>
              <a:t>Merci. Je suis prêt pour vos questions, et pour refaire n'importe quelle étape de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h92500-getaround-dashboard.hf.space" TargetMode="External"/><Relationship Id="rId3" Type="http://schemas.openxmlformats.org/officeDocument/2006/relationships/hyperlink" Target="https://alh92500-getaround-api.hf.space/docs" TargetMode="External"/><Relationship Id="rId4" Type="http://schemas.openxmlformats.org/officeDocument/2006/relationships/hyperlink" Target="https://github.com/aymericlahonde-dotcom/cdsd-b5-getaround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lh92500-getaround-dashboard.hf.space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ymericlahonde-dotcom/cdsd-b5-getaround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h92500-getaround-api.hf.space/docs" TargetMode="External"/><Relationship Id="rId3" Type="http://schemas.openxmlformats.org/officeDocument/2006/relationships/hyperlink" Target="https://alh92500-getaround-api.hf.space/health" TargetMode="Externa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h92500-getaround-api.hf.space/docs" TargetMode="External"/><Relationship Id="rId3" Type="http://schemas.openxmlformats.org/officeDocument/2006/relationships/hyperlink" Target="https://huggingface.co/spaces/Alh92500/getaround-api" TargetMode="Externa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alh92500-getaround-dashboard.hf.space" TargetMode="External"/><Relationship Id="rId6" Type="http://schemas.openxmlformats.org/officeDocument/2006/relationships/hyperlink" Target="https://alh92500-getaround-api.hf.space/docs" TargetMode="Externa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h92500-getaround-dashboard.hf.space" TargetMode="External"/><Relationship Id="rId3" Type="http://schemas.openxmlformats.org/officeDocument/2006/relationships/hyperlink" Target="https://alh92500-getaround-api.hf.space/docs" TargetMode="External"/><Relationship Id="rId4" Type="http://schemas.openxmlformats.org/officeDocument/2006/relationships/hyperlink" Target="https://alh92500-getaround-api.hf.space/health" TargetMode="External"/><Relationship Id="rId5" Type="http://schemas.openxmlformats.org/officeDocument/2006/relationships/hyperlink" Target="https://github.com/aymericlahonde-dotcom/cdsd-b5-getaround" TargetMode="Externa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320040" cy="27432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6A1B9A"/>
                </a:solidFill>
              </a:defRPr>
            </a:pPr>
            <a:r>
              <a:t>Getaround — analyse des retards &amp; API de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4A475E"/>
                </a:solidFill>
              </a:defRPr>
            </a:pPr>
            <a:r>
              <a:t>Bloc 5 — Industrialisation d'un algorithme d'apprentissage automatique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Aymeric Lahonde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Certification Concepteur Développeur en Science des Données — Jedha (RNCP 35288)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Soutenance du 30 septembre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2"/>
              </a:rPr>
              <a:t>🔗 Dashboard</a:t>
            </a:r>
            <a:r>
              <a:rPr sz="1200">
                <a:solidFill>
                  <a:srgbClr val="9A97AD"/>
                </a:solidFill>
              </a:rPr>
              <a:t>     |     </a:t>
            </a:r>
            <a:r>
              <a:rPr sz="1200" b="1">
                <a:solidFill>
                  <a:srgbClr val="00BFA5"/>
                </a:solidFill>
                <a:hlinkClick r:id="rId3"/>
              </a:rPr>
              <a:t>🔗 API /docs</a:t>
            </a:r>
            <a:r>
              <a:rPr sz="1200">
                <a:solidFill>
                  <a:srgbClr val="9A97AD"/>
                </a:solidFill>
              </a:rPr>
              <a:t>     |     </a:t>
            </a:r>
            <a:r>
              <a:rPr sz="1200" b="1">
                <a:solidFill>
                  <a:srgbClr val="00BFA5"/>
                </a:solidFill>
                <a:hlinkClick r:id="rId4"/>
              </a:rPr>
              <a:t>🔗 Code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Le besoin de Getaround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Location de voitures entre particuliers — 5 M d'utilisateurs, 20 000 voitures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6A1B9A"/>
                </a:solidFill>
              </a:defRPr>
            </a:pPr>
            <a:r>
              <a:t>Deux problèmes métier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  <a:r>
              <a:t>•  Les conducteurs rendent souvent la voiture en retard : le client suivant attend ou annule.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  <a:r>
              <a:t>•  Imposer un délai minimum entre deux locations réduit ces frictions, mais fait perdre du revenu aux propriétaires.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  <a:r>
              <a:t>•  L'équipe Data Science veut proposer un prix journalier optimal aux propriétaires.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</a:p>
          <a:p>
            <a:pPr>
              <a:spcAft>
                <a:spcPts val="600"/>
              </a:spcAft>
              <a:defRPr sz="1900" b="1">
                <a:solidFill>
                  <a:srgbClr val="6A1B9A"/>
                </a:solidFill>
              </a:defRPr>
            </a:pPr>
            <a:r>
              <a:t>Ma mission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  <a:r>
              <a:t>•  Un dashboard pour aider le Product Manager à choisir le délai et son périmètre.</a:t>
            </a:r>
          </a:p>
          <a:p>
            <a:pPr>
              <a:spcAft>
                <a:spcPts val="700"/>
              </a:spcAft>
              <a:defRPr sz="1700" b="0">
                <a:solidFill>
                  <a:srgbClr val="4A475E"/>
                </a:solidFill>
              </a:defRPr>
            </a:pPr>
            <a:r>
              <a:t>•  Une API de prédiction de prix, documentée et en ligne, utilisable depuis le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Deux jeux de données fournis par Getaround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349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A1B9A"/>
                </a:solidFill>
              </a:defRPr>
            </a:pPr>
            <a:r>
              <a:t>Delay Analysis (Excel)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21 310 locations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Type de checkin : mobile ou Connect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Retard au checkout (minutes)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Écart avec la location précédente (minutes)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1 841 locations consécutives exploitables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49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A1B9A"/>
                </a:solidFill>
              </a:defRPr>
            </a:pPr>
            <a:r>
              <a:t>Pricing (CSV)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4 843 voitures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13 caractéristiques : marque, kilométrage, puissance, carburant, couleur, type, 7 options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Cible : prix de location par jour (10 à 422 €, médiane 119 €)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Nettoyage : encodage des accents, booléens en 0/1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Analyse des retards — dashboard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Réponses aux 4 questions du Product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21 310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locations analysées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toutes 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44 %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checkouts en retard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retard &gt; 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11,8 %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clients suivants impactés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sur 1 841 locations consécutives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349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PM règle le seuil (0 à 720 min) et le périmètre (toutes / Connect).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dashboard affiche le revenu impacté, les locations bloquées et les cas résolus.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Recommandation : 60 à 90 min sur les voitures Connect.</a:t>
            </a:r>
          </a:p>
        </p:txBody>
      </p:sp>
      <p:pic>
        <p:nvPicPr>
          <p:cNvPr id="11" name="Picture 10" descr="dashboard_analys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63240"/>
            <a:ext cx="4206240" cy="2570480"/>
          </a:xfrm>
          <a:prstGeom prst="rect">
            <a:avLst/>
          </a:prstGeom>
          <a:ln w="9525">
            <a:solidFill>
              <a:srgbClr val="9A97A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09360" y="56794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475E"/>
                </a:solidFill>
              </a:defRPr>
            </a:pPr>
            <a:r>
              <a:t>Onglet « Analyse des retards » en ligne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3"/>
              </a:rPr>
              <a:t>🔗 Ouvrir le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Un modèle entraîné et tracké, servi par une API, utilisé par le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965960" cy="105156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Entraînement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scikit-learn + MLflow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600200"/>
            <a:ext cx="1965960" cy="1051560"/>
          </a:xfrm>
          <a:prstGeom prst="roundRect">
            <a:avLst>
              <a:gd name="adj" fmla="val 15000"/>
            </a:avLst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Modèle exporté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model.joblib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600200"/>
            <a:ext cx="1965960" cy="1051560"/>
          </a:xfrm>
          <a:prstGeom prst="roundRect">
            <a:avLst>
              <a:gd name="adj" fmla="val 15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API FastAPI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POST /predict, GET /docs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1600200"/>
            <a:ext cx="1965960" cy="1051560"/>
          </a:xfrm>
          <a:prstGeom prst="roundRect">
            <a:avLst>
              <a:gd name="adj" fmla="val 15000"/>
            </a:avLst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Docker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 image par service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83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600200"/>
            <a:ext cx="1965960" cy="1051560"/>
          </a:xfrm>
          <a:prstGeom prst="roundRect">
            <a:avLst>
              <a:gd name="adj" fmla="val 15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HuggingFace Spaces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dashboard + API en ligne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5349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Stack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Streamlit : dashboard interactif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MLflow : suivi des expériences et registre du modèle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FastAPI + Pydantic : API REST et validation des entrées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Docker + HuggingFace Spaces : mise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5349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Deux services indépendants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dashboard appelle l'API par HTTP : il n'embarque pas le modèle.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L'API embarque le modèle : elle démarre sans dépendance réseau.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Tout se rejoue en 3 commandes : training, tests, déploiement.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2"/>
              </a:rPr>
              <a:t>🔗 Code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Le modèle de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Random Forest sur 13 caractéristiques, suivi avec MLflow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16,9 €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RMSE (jeu de test)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erreur quadratique moyenne / jour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10,8 €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MAE (jeu de test)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erreur absolue moyenne / jour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0BFA5"/>
                </a:solidFill>
              </a:defRPr>
            </a:pPr>
            <a:r>
              <a:t>200</a:t>
            </a:r>
          </a:p>
          <a:p>
            <a:pPr algn="ctr">
              <a:defRPr sz="1400" b="1">
                <a:solidFill>
                  <a:srgbClr val="6A1B9A"/>
                </a:solidFill>
              </a:defRPr>
            </a:pPr>
            <a:r>
              <a:t>arbres</a:t>
            </a:r>
          </a:p>
          <a:p>
            <a:pPr algn="ctr">
              <a:defRPr sz="1100">
                <a:solidFill>
                  <a:srgbClr val="4A475E"/>
                </a:solidFill>
              </a:defRPr>
            </a:pPr>
            <a:r>
              <a:t>profondeur max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Pipeline scikit-learn : encodage one-hot des catégories, standardisation des numériques, Random Forest.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Séparation 80 % entraînement / 20 % test ; hyperparamètres passés en ligne de commande.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MLflow enregistre paramètres, métriques et signature du modèle (registre « getaround_pricer »).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pipeline complet est exporté en model.joblib et embarqué dans l'API.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L'API de pricing — à quoi elle 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Un service que n'importe quel client peut appeler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537460" cy="105156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Client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dashboard, curl, Python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318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6140" y="1600200"/>
            <a:ext cx="2537460" cy="1051560"/>
          </a:xfrm>
          <a:prstGeom prst="roundRect">
            <a:avLst>
              <a:gd name="adj" fmla="val 15000"/>
            </a:avLst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POST /predict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JSON : 13 valeurs par voiture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93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2537460" cy="1051560"/>
          </a:xfrm>
          <a:prstGeom prst="roundRect">
            <a:avLst>
              <a:gd name="adj" fmla="val 15000"/>
            </a:avLst>
          </a:prstGeom>
          <a:solidFill>
            <a:srgbClr val="311B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Modèle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pipeline scikit-learn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46820" y="1988820"/>
            <a:ext cx="228599" cy="274320"/>
          </a:xfrm>
          <a:prstGeom prst="rightArrow">
            <a:avLst/>
          </a:prstGeom>
          <a:solidFill>
            <a:srgbClr val="9A9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21140" y="1600200"/>
            <a:ext cx="2537460" cy="1051560"/>
          </a:xfrm>
          <a:prstGeom prst="roundRect">
            <a:avLst>
              <a:gd name="adj" fmla="val 15000"/>
            </a:avLst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Réponse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prix en € /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49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Pourquoi une API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modèle est utilisable sans connaître scikit-learn.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contrat d'entrée / sortie est documenté sur /docs.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On redéploie le modèle sans toucher aux clients.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349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Qui l'appelle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dashboard, onglet « Estimer un prix ».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Le jury, depuis Swagger /docs (bouton Try it out).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N'importe quel programme : curl, Python requests.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2"/>
              </a:rPr>
              <a:t>🔗 Documentation /docs</a:t>
            </a:r>
            <a:r>
              <a:rPr sz="1200">
                <a:solidFill>
                  <a:srgbClr val="9A97AD"/>
                </a:solidFill>
              </a:rPr>
              <a:t>     |     </a:t>
            </a:r>
            <a:r>
              <a:rPr sz="1200" b="1">
                <a:solidFill>
                  <a:srgbClr val="00BFA5"/>
                </a:solidFill>
                <a:hlinkClick r:id="rId3"/>
              </a:rPr>
              <a:t>🔗 État 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L'API en détail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FastAPI — en ligne sur HuggingFace 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349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Endpoints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GET /docs : documentation interactive Swagger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GET /health : modèle chargé, 13 caractéristiques attendues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POST /predict : un prix par ligne envoyée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Entrée malformée : erreur 422 avec message clair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</a:p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Qualité</a:t>
            </a:r>
          </a:p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•  4 tests automatisés sur l'API, 7 sur le client du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Exemple d'appel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57400"/>
            <a:ext cx="53492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9A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defRPr sz="1200" b="1">
                <a:solidFill>
                  <a:srgbClr val="6A1B9A"/>
                </a:solidFill>
                <a:latin typeface="Consolas"/>
              </a:defRPr>
            </a:pPr>
            <a:r>
              <a:t>POST https://alh92500-getaround-api.hf.space/predict</a:t>
            </a:r>
          </a:p>
          <a:p>
            <a:pPr algn="l">
              <a:defRPr sz="1200" b="0">
                <a:solidFill>
                  <a:srgbClr val="4A475E"/>
                </a:solidFill>
                <a:latin typeface="Consolas"/>
              </a:defRPr>
            </a:pPr>
          </a:p>
          <a:p>
            <a:pPr algn="l">
              <a:defRPr sz="1200" b="0">
                <a:solidFill>
                  <a:srgbClr val="4A475E"/>
                </a:solidFill>
                <a:latin typeface="Consolas"/>
              </a:defRPr>
            </a:pPr>
            <a:r>
              <a:t>{"input": [["Citroen", 140000, 100, "diesel",</a:t>
            </a:r>
          </a:p>
          <a:p>
            <a:pPr algn="l">
              <a:defRPr sz="1200" b="0">
                <a:solidFill>
                  <a:srgbClr val="4A475E"/>
                </a:solidFill>
                <a:latin typeface="Consolas"/>
              </a:defRPr>
            </a:pPr>
            <a:r>
              <a:t>  "black", "convertible", true, true, false,</a:t>
            </a:r>
          </a:p>
          <a:p>
            <a:pPr algn="l">
              <a:defRPr sz="1200" b="0">
                <a:solidFill>
                  <a:srgbClr val="4A475E"/>
                </a:solidFill>
                <a:latin typeface="Consolas"/>
              </a:defRPr>
            </a:pPr>
            <a:r>
              <a:t>  false, true, true, true]]}</a:t>
            </a:r>
          </a:p>
          <a:p>
            <a:pPr algn="l">
              <a:defRPr sz="1200" b="0">
                <a:solidFill>
                  <a:srgbClr val="4A475E"/>
                </a:solidFill>
                <a:latin typeface="Consolas"/>
              </a:defRPr>
            </a:pPr>
          </a:p>
          <a:p>
            <a:pPr algn="l">
              <a:defRPr sz="1200" b="1">
                <a:solidFill>
                  <a:srgbClr val="00BFA5"/>
                </a:solidFill>
                <a:latin typeface="Consolas"/>
              </a:defRPr>
            </a:pPr>
            <a:r>
              <a:t>→  {"prediction": [120.15]}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52628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6A1B9A"/>
                </a:solidFill>
              </a:defRPr>
            </a:pPr>
            <a:r>
              <a:t>Réponse de GET 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98348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A9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/>
          <a:lstStyle/>
          <a:p>
            <a:pPr algn="l">
              <a:defRPr sz="1200">
                <a:solidFill>
                  <a:srgbClr val="4A475E"/>
                </a:solidFill>
                <a:latin typeface="Consolas"/>
              </a:defRPr>
            </a:pPr>
            <a:r>
              <a:t>{"status": "ok", "model_loaded": true,</a:t>
            </a:r>
          </a:p>
          <a:p>
            <a:pPr algn="l">
              <a:defRPr sz="1200">
                <a:solidFill>
                  <a:srgbClr val="4A475E"/>
                </a:solidFill>
                <a:latin typeface="Consolas"/>
              </a:defRPr>
            </a:pPr>
            <a:r>
              <a:t> "model_type": "RandomForestRegressor", "n_features": 13,</a:t>
            </a:r>
          </a:p>
          <a:p>
            <a:pPr algn="l">
              <a:defRPr sz="1200">
                <a:solidFill>
                  <a:srgbClr val="4A475E"/>
                </a:solidFill>
                <a:latin typeface="Consolas"/>
              </a:defRPr>
            </a:pPr>
            <a:r>
              <a:t> "features": ["model_key", "mileage", "engine_power", ...]}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2"/>
              </a:rPr>
              <a:t>🔗 Tester l'API sur /docs</a:t>
            </a:r>
            <a:r>
              <a:rPr sz="1200">
                <a:solidFill>
                  <a:srgbClr val="9A97AD"/>
                </a:solidFill>
              </a:rPr>
              <a:t>     |     </a:t>
            </a:r>
            <a:r>
              <a:rPr sz="1200" b="1">
                <a:solidFill>
                  <a:srgbClr val="00BFA5"/>
                </a:solidFill>
                <a:hlinkClick r:id="rId3"/>
              </a:rPr>
              <a:t>🔗 Space HuggingFace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Démo — le dashboard appelle l'API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Onglet « Estimer un prix » : formulaire → POST /predict → réponse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redic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49240" cy="3268980"/>
          </a:xfrm>
          <a:prstGeom prst="rect">
            <a:avLst/>
          </a:prstGeom>
          <a:ln w="9525">
            <a:solidFill>
              <a:srgbClr val="9A97A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914900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475E"/>
                </a:solidFill>
              </a:defRPr>
            </a:pPr>
            <a:r>
              <a:t>① Formulaire de 13 champs → bouton « Appeler l'API » → ② prix renvoyé par l'API</a:t>
            </a:r>
          </a:p>
        </p:txBody>
      </p:sp>
      <p:pic>
        <p:nvPicPr>
          <p:cNvPr id="9" name="Picture 8" descr="swagger_reques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4389120" cy="2122438"/>
          </a:xfrm>
          <a:prstGeom prst="rect">
            <a:avLst/>
          </a:prstGeom>
          <a:ln w="9525">
            <a:solidFill>
              <a:srgbClr val="9A97A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3768358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475E"/>
                </a:solidFill>
              </a:defRPr>
            </a:pPr>
            <a:r>
              <a:t>③ Le même appel depuis Swagger /docs (Try it out → Execute)</a:t>
            </a:r>
          </a:p>
        </p:txBody>
      </p:sp>
      <p:pic>
        <p:nvPicPr>
          <p:cNvPr id="11" name="Picture 10" descr="swagger_respons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4389120" cy="1442434"/>
          </a:xfrm>
          <a:prstGeom prst="rect">
            <a:avLst/>
          </a:prstGeom>
          <a:ln w="9525">
            <a:solidFill>
              <a:srgbClr val="9A97AD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09360" y="5648674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A475E"/>
                </a:solidFill>
              </a:defRPr>
            </a:pPr>
            <a:r>
              <a:t>④ Réponse 200 : {"prediction": [120.15]}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BFA5"/>
                </a:solidFill>
                <a:hlinkClick r:id="rId5"/>
              </a:rPr>
              <a:t>🔗 Dashboard</a:t>
            </a:r>
            <a:r>
              <a:rPr sz="1200">
                <a:solidFill>
                  <a:srgbClr val="9A97AD"/>
                </a:solidFill>
              </a:rPr>
              <a:t>     |     </a:t>
            </a:r>
            <a:r>
              <a:rPr sz="1200" b="1">
                <a:solidFill>
                  <a:srgbClr val="00BFA5"/>
                </a:solidFill>
                <a:hlinkClick r:id="rId6"/>
              </a:rPr>
              <a:t>🔗 API 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Ce que le projet ne fait pas encore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Le seuil recommandé est estimé sur les locations consécutives connues : c'est une borne haute du revenu impacté.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Une marque ou une couleur inconnue du modèle est acceptée silencieusement (encodage à zéro) au lieu d'être refusée.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Un seul modèle testé (Random Forest), sans validation croisée ni comparaison avec d'autres algorithmes.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Les Spaces HuggingFace gratuits s'endorment : 15 secondes de réveil au premier appel.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Pas d'authentification sur l'API.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Si le projet continuait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642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Refuser les valeurs inconnues avec une erreur 422 listant les valeurs acceptées.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Comparer Gradient Boosting et XGBoost, régler les hyperparamètres par validation croisée.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Automatiser tests, build et déploiement avec GitHub Actions.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Stocker les artefacts MLflow sur un stockage persistant (S3) pour un serveur distant.</a:t>
            </a:r>
          </a:p>
          <a:p>
            <a:pPr>
              <a:spcAft>
                <a:spcPts val="700"/>
              </a:spcAft>
              <a:defRPr sz="1600" b="0">
                <a:solidFill>
                  <a:srgbClr val="4A475E"/>
                </a:solidFill>
              </a:defRPr>
            </a:pPr>
            <a:r>
              <a:t>•  Ajouter une clé d'API et des journaux d'appels pour suivre l'usage et la dérive des prix.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A1B9A"/>
                </a:solidFill>
              </a:defRPr>
            </a:pPr>
            <a:r>
              <a:t>Merci — des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4A475E"/>
                </a:solidFill>
              </a:defRPr>
            </a:pPr>
            <a:r>
              <a:t>Tout est en ligne et vérifiable pendant la soutenance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645920" cy="30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6A1B9A"/>
                </a:solidFill>
              </a:defRPr>
            </a:pPr>
            <a:r>
              <a:t>Liens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A1B9A"/>
                </a:solidFill>
              </a:rPr>
              <a:t>Dashboard (Streamlit) :  </a:t>
            </a:r>
            <a:r>
              <a:rPr sz="1600" u="sng">
                <a:solidFill>
                  <a:srgbClr val="00BFA5"/>
                </a:solidFill>
                <a:hlinkClick r:id="rId2"/>
              </a:rPr>
              <a:t>https://alh92500-getaround-dashboard.hf.space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A1B9A"/>
                </a:solidFill>
              </a:rPr>
              <a:t>API — documentation :  </a:t>
            </a:r>
            <a:r>
              <a:rPr sz="1600" u="sng">
                <a:solidFill>
                  <a:srgbClr val="00BFA5"/>
                </a:solidFill>
                <a:hlinkClick r:id="rId3"/>
              </a:rPr>
              <a:t>https://alh92500-getaround-api.hf.space/docs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A1B9A"/>
                </a:solidFill>
              </a:rPr>
              <a:t>API — état du modèle :  </a:t>
            </a:r>
            <a:r>
              <a:rPr sz="1600" u="sng">
                <a:solidFill>
                  <a:srgbClr val="00BFA5"/>
                </a:solidFill>
                <a:hlinkClick r:id="rId4"/>
              </a:rPr>
              <a:t>https://alh92500-getaround-api.hf.space/health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A1B9A"/>
                </a:solidFill>
              </a:rPr>
              <a:t>Code source (GitHub) :  </a:t>
            </a:r>
            <a:r>
              <a:rPr sz="1600" u="sng">
                <a:solidFill>
                  <a:srgbClr val="00BFA5"/>
                </a:solidFill>
                <a:hlinkClick r:id="rId5"/>
              </a:rPr>
              <a:t>https://github.com/aymericlahonde-dotcom/cdsd-b5-getaround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4A475E"/>
                </a:solidFill>
              </a:defRPr>
            </a:pPr>
            <a:r>
              <a:t>Je peux refaire n'importe quelle étape de la démo : dashboard, Swagger, curl, MLflow.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7AD"/>
                </a:solidFill>
              </a:defRPr>
            </a:pPr>
            <a:r>
              <a:t>Aymeric Lahonde  ·  Bloc 5 Getaround  ·  CDSD Jedha (RNCP 35288)  ·  30/09/2026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BFA5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